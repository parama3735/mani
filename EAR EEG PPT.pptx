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5" r:id="rId4"/>
  </p:sldMasterIdLst>
  <p:notesMasterIdLst>
    <p:notesMasterId r:id="rId17"/>
  </p:notesMasterIdLst>
  <p:handoutMasterIdLst>
    <p:handoutMasterId r:id="rId18"/>
  </p:handoutMasterIdLst>
  <p:sldIdLst>
    <p:sldId id="256" r:id="rId5"/>
    <p:sldId id="257" r:id="rId6"/>
    <p:sldId id="258" r:id="rId7"/>
    <p:sldId id="259" r:id="rId8"/>
    <p:sldId id="260" r:id="rId9"/>
    <p:sldId id="261" r:id="rId10"/>
    <p:sldId id="262" r:id="rId11"/>
    <p:sldId id="267" r:id="rId12"/>
    <p:sldId id="263" r:id="rId13"/>
    <p:sldId id="265" r:id="rId14"/>
    <p:sldId id="264"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DC0585-75FF-4B39-BA65-990E5C9CF91D}" v="8" dt="2026-03-20T07:12:37.960"/>
    <p1510:client id="{9B4B50C9-9E39-462D-A3F3-AA69A416D7F8}" v="9" dt="2026-03-20T06:46:53.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54"/>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90B066-9A95-4F7F-BD3F-0F3EAFA49B9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8BB5B16-515E-4060-B398-5CCF9BB5FE44}">
      <dgm:prSet/>
      <dgm:spPr/>
      <dgm:t>
        <a:bodyPr/>
        <a:lstStyle/>
        <a:p>
          <a:pPr>
            <a:lnSpc>
              <a:spcPct val="100000"/>
            </a:lnSpc>
          </a:pPr>
          <a:r>
            <a:rPr lang="en-US" b="1"/>
            <a:t>Objective:</a:t>
          </a:r>
          <a:r>
            <a:rPr lang="en-US"/>
            <a:t> To design and implement a multimodal wearable ear-EEG device that combines neural and physiological parameters for accurate, continuous, and non-invasive brain state assessment outside clinical environments.</a:t>
          </a:r>
        </a:p>
      </dgm:t>
    </dgm:pt>
    <dgm:pt modelId="{5B836F11-785D-4D22-9CCE-1AD1A3CC9015}" type="parTrans" cxnId="{BD5D48ED-06AF-4B1C-96C3-E1D943592832}">
      <dgm:prSet/>
      <dgm:spPr/>
      <dgm:t>
        <a:bodyPr/>
        <a:lstStyle/>
        <a:p>
          <a:endParaRPr lang="en-US"/>
        </a:p>
      </dgm:t>
    </dgm:pt>
    <dgm:pt modelId="{779EAE6C-49F0-4158-B970-70BE6329DFD6}" type="sibTrans" cxnId="{BD5D48ED-06AF-4B1C-96C3-E1D943592832}">
      <dgm:prSet/>
      <dgm:spPr/>
      <dgm:t>
        <a:bodyPr/>
        <a:lstStyle/>
        <a:p>
          <a:endParaRPr lang="en-US"/>
        </a:p>
      </dgm:t>
    </dgm:pt>
    <dgm:pt modelId="{0BFB7374-BE9E-492F-9A89-2E599B352190}">
      <dgm:prSet/>
      <dgm:spPr/>
      <dgm:t>
        <a:bodyPr/>
        <a:lstStyle/>
        <a:p>
          <a:pPr>
            <a:lnSpc>
              <a:spcPct val="100000"/>
            </a:lnSpc>
          </a:pPr>
          <a:r>
            <a:rPr lang="en-US" b="1"/>
            <a:t>Scope:</a:t>
          </a:r>
          <a:r>
            <a:rPr lang="en-US"/>
            <a:t> The system targets drowsiness detection, sleep monitoring, and cognitive fatigue assessment using Arduino-based embedded hardware with Bluetooth wireless connectivity and mobile display.</a:t>
          </a:r>
        </a:p>
      </dgm:t>
    </dgm:pt>
    <dgm:pt modelId="{E4320DEB-20BD-41E5-BC73-CAC9BB6ABACA}" type="parTrans" cxnId="{E9B91B3E-DD5A-4645-A404-C7B149DAF311}">
      <dgm:prSet/>
      <dgm:spPr/>
      <dgm:t>
        <a:bodyPr/>
        <a:lstStyle/>
        <a:p>
          <a:endParaRPr lang="en-US"/>
        </a:p>
      </dgm:t>
    </dgm:pt>
    <dgm:pt modelId="{3534F133-2C1D-45E3-BF9D-43799855D590}" type="sibTrans" cxnId="{E9B91B3E-DD5A-4645-A404-C7B149DAF311}">
      <dgm:prSet/>
      <dgm:spPr/>
      <dgm:t>
        <a:bodyPr/>
        <a:lstStyle/>
        <a:p>
          <a:endParaRPr lang="en-US"/>
        </a:p>
      </dgm:t>
    </dgm:pt>
    <dgm:pt modelId="{81D83432-426E-4BD0-BEEF-95AD984EFA7F}" type="pres">
      <dgm:prSet presAssocID="{2190B066-9A95-4F7F-BD3F-0F3EAFA49B92}" presName="root" presStyleCnt="0">
        <dgm:presLayoutVars>
          <dgm:dir/>
          <dgm:resizeHandles val="exact"/>
        </dgm:presLayoutVars>
      </dgm:prSet>
      <dgm:spPr/>
    </dgm:pt>
    <dgm:pt modelId="{82124B29-7CAF-4BE5-91CB-D50C6438CF88}" type="pres">
      <dgm:prSet presAssocID="{78BB5B16-515E-4060-B398-5CCF9BB5FE44}" presName="compNode" presStyleCnt="0"/>
      <dgm:spPr/>
    </dgm:pt>
    <dgm:pt modelId="{6DDAA90A-7CED-422E-BA43-07C9F4DEA61E}" type="pres">
      <dgm:prSet presAssocID="{78BB5B16-515E-4060-B398-5CCF9BB5FE44}" presName="bgRect" presStyleLbl="bgShp" presStyleIdx="0" presStyleCnt="2"/>
      <dgm:spPr/>
    </dgm:pt>
    <dgm:pt modelId="{F4113D06-6D92-4E9F-BAD0-28A9D42A11F0}" type="pres">
      <dgm:prSet presAssocID="{78BB5B16-515E-4060-B398-5CCF9BB5FE4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in"/>
        </a:ext>
      </dgm:extLst>
    </dgm:pt>
    <dgm:pt modelId="{07A96673-15F6-47CD-8DD5-0F9AE0FAD405}" type="pres">
      <dgm:prSet presAssocID="{78BB5B16-515E-4060-B398-5CCF9BB5FE44}" presName="spaceRect" presStyleCnt="0"/>
      <dgm:spPr/>
    </dgm:pt>
    <dgm:pt modelId="{F310E670-A1E9-40A6-94EC-5B6E95BB62C9}" type="pres">
      <dgm:prSet presAssocID="{78BB5B16-515E-4060-B398-5CCF9BB5FE44}" presName="parTx" presStyleLbl="revTx" presStyleIdx="0" presStyleCnt="2">
        <dgm:presLayoutVars>
          <dgm:chMax val="0"/>
          <dgm:chPref val="0"/>
        </dgm:presLayoutVars>
      </dgm:prSet>
      <dgm:spPr/>
    </dgm:pt>
    <dgm:pt modelId="{03E948F0-61B8-436B-9B25-30F8CCCC152C}" type="pres">
      <dgm:prSet presAssocID="{779EAE6C-49F0-4158-B970-70BE6329DFD6}" presName="sibTrans" presStyleCnt="0"/>
      <dgm:spPr/>
    </dgm:pt>
    <dgm:pt modelId="{DC7E9DC7-2AFA-422B-A381-35C3332164B5}" type="pres">
      <dgm:prSet presAssocID="{0BFB7374-BE9E-492F-9A89-2E599B352190}" presName="compNode" presStyleCnt="0"/>
      <dgm:spPr/>
    </dgm:pt>
    <dgm:pt modelId="{D87BEB76-93AE-445E-96FD-9F4E9E692914}" type="pres">
      <dgm:prSet presAssocID="{0BFB7374-BE9E-492F-9A89-2E599B352190}" presName="bgRect" presStyleLbl="bgShp" presStyleIdx="1" presStyleCnt="2"/>
      <dgm:spPr/>
    </dgm:pt>
    <dgm:pt modelId="{42475D64-5525-4D57-A96C-062DE8CD01C6}" type="pres">
      <dgm:prSet presAssocID="{0BFB7374-BE9E-492F-9A89-2E599B35219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leep"/>
        </a:ext>
      </dgm:extLst>
    </dgm:pt>
    <dgm:pt modelId="{8AB1AA6A-B442-4876-9D69-AC2E78B82D91}" type="pres">
      <dgm:prSet presAssocID="{0BFB7374-BE9E-492F-9A89-2E599B352190}" presName="spaceRect" presStyleCnt="0"/>
      <dgm:spPr/>
    </dgm:pt>
    <dgm:pt modelId="{7E98FFA9-E4C1-4DB6-807A-67017C934442}" type="pres">
      <dgm:prSet presAssocID="{0BFB7374-BE9E-492F-9A89-2E599B352190}" presName="parTx" presStyleLbl="revTx" presStyleIdx="1" presStyleCnt="2">
        <dgm:presLayoutVars>
          <dgm:chMax val="0"/>
          <dgm:chPref val="0"/>
        </dgm:presLayoutVars>
      </dgm:prSet>
      <dgm:spPr/>
    </dgm:pt>
  </dgm:ptLst>
  <dgm:cxnLst>
    <dgm:cxn modelId="{BAB07D39-3CF5-4042-B016-62AA1627558C}" type="presOf" srcId="{2190B066-9A95-4F7F-BD3F-0F3EAFA49B92}" destId="{81D83432-426E-4BD0-BEEF-95AD984EFA7F}" srcOrd="0" destOrd="0" presId="urn:microsoft.com/office/officeart/2018/2/layout/IconVerticalSolidList"/>
    <dgm:cxn modelId="{E9B91B3E-DD5A-4645-A404-C7B149DAF311}" srcId="{2190B066-9A95-4F7F-BD3F-0F3EAFA49B92}" destId="{0BFB7374-BE9E-492F-9A89-2E599B352190}" srcOrd="1" destOrd="0" parTransId="{E4320DEB-20BD-41E5-BC73-CAC9BB6ABACA}" sibTransId="{3534F133-2C1D-45E3-BF9D-43799855D590}"/>
    <dgm:cxn modelId="{60357494-ED61-41DF-9FF6-D06503BFC4E7}" type="presOf" srcId="{78BB5B16-515E-4060-B398-5CCF9BB5FE44}" destId="{F310E670-A1E9-40A6-94EC-5B6E95BB62C9}" srcOrd="0" destOrd="0" presId="urn:microsoft.com/office/officeart/2018/2/layout/IconVerticalSolidList"/>
    <dgm:cxn modelId="{051BFDA3-D896-40CC-A5B2-F8547A66126B}" type="presOf" srcId="{0BFB7374-BE9E-492F-9A89-2E599B352190}" destId="{7E98FFA9-E4C1-4DB6-807A-67017C934442}" srcOrd="0" destOrd="0" presId="urn:microsoft.com/office/officeart/2018/2/layout/IconVerticalSolidList"/>
    <dgm:cxn modelId="{BD5D48ED-06AF-4B1C-96C3-E1D943592832}" srcId="{2190B066-9A95-4F7F-BD3F-0F3EAFA49B92}" destId="{78BB5B16-515E-4060-B398-5CCF9BB5FE44}" srcOrd="0" destOrd="0" parTransId="{5B836F11-785D-4D22-9CCE-1AD1A3CC9015}" sibTransId="{779EAE6C-49F0-4158-B970-70BE6329DFD6}"/>
    <dgm:cxn modelId="{D9BA8C1A-D380-4C87-9D31-56D58ACAEE3E}" type="presParOf" srcId="{81D83432-426E-4BD0-BEEF-95AD984EFA7F}" destId="{82124B29-7CAF-4BE5-91CB-D50C6438CF88}" srcOrd="0" destOrd="0" presId="urn:microsoft.com/office/officeart/2018/2/layout/IconVerticalSolidList"/>
    <dgm:cxn modelId="{8478C7FC-D53B-487D-8AC5-5B881337332D}" type="presParOf" srcId="{82124B29-7CAF-4BE5-91CB-D50C6438CF88}" destId="{6DDAA90A-7CED-422E-BA43-07C9F4DEA61E}" srcOrd="0" destOrd="0" presId="urn:microsoft.com/office/officeart/2018/2/layout/IconVerticalSolidList"/>
    <dgm:cxn modelId="{2B88628C-2655-4D42-8459-86FECE086D0F}" type="presParOf" srcId="{82124B29-7CAF-4BE5-91CB-D50C6438CF88}" destId="{F4113D06-6D92-4E9F-BAD0-28A9D42A11F0}" srcOrd="1" destOrd="0" presId="urn:microsoft.com/office/officeart/2018/2/layout/IconVerticalSolidList"/>
    <dgm:cxn modelId="{27D4360E-44F5-4AA7-8EFD-54F7A3CA36AD}" type="presParOf" srcId="{82124B29-7CAF-4BE5-91CB-D50C6438CF88}" destId="{07A96673-15F6-47CD-8DD5-0F9AE0FAD405}" srcOrd="2" destOrd="0" presId="urn:microsoft.com/office/officeart/2018/2/layout/IconVerticalSolidList"/>
    <dgm:cxn modelId="{7D8AABEC-74E0-4913-89E0-26D0EF8E430A}" type="presParOf" srcId="{82124B29-7CAF-4BE5-91CB-D50C6438CF88}" destId="{F310E670-A1E9-40A6-94EC-5B6E95BB62C9}" srcOrd="3" destOrd="0" presId="urn:microsoft.com/office/officeart/2018/2/layout/IconVerticalSolidList"/>
    <dgm:cxn modelId="{80F9C0DB-F9CB-4362-84D9-7BCD8E4795BE}" type="presParOf" srcId="{81D83432-426E-4BD0-BEEF-95AD984EFA7F}" destId="{03E948F0-61B8-436B-9B25-30F8CCCC152C}" srcOrd="1" destOrd="0" presId="urn:microsoft.com/office/officeart/2018/2/layout/IconVerticalSolidList"/>
    <dgm:cxn modelId="{704CBA56-14C0-42A2-AE24-B1D6FB5FA690}" type="presParOf" srcId="{81D83432-426E-4BD0-BEEF-95AD984EFA7F}" destId="{DC7E9DC7-2AFA-422B-A381-35C3332164B5}" srcOrd="2" destOrd="0" presId="urn:microsoft.com/office/officeart/2018/2/layout/IconVerticalSolidList"/>
    <dgm:cxn modelId="{26A65C9E-F29C-4745-940B-386A4C6119C3}" type="presParOf" srcId="{DC7E9DC7-2AFA-422B-A381-35C3332164B5}" destId="{D87BEB76-93AE-445E-96FD-9F4E9E692914}" srcOrd="0" destOrd="0" presId="urn:microsoft.com/office/officeart/2018/2/layout/IconVerticalSolidList"/>
    <dgm:cxn modelId="{71A157B8-DD79-4B85-9249-6E8C99323F4D}" type="presParOf" srcId="{DC7E9DC7-2AFA-422B-A381-35C3332164B5}" destId="{42475D64-5525-4D57-A96C-062DE8CD01C6}" srcOrd="1" destOrd="0" presId="urn:microsoft.com/office/officeart/2018/2/layout/IconVerticalSolidList"/>
    <dgm:cxn modelId="{0270373B-2A88-4B19-994E-22A1BAED6751}" type="presParOf" srcId="{DC7E9DC7-2AFA-422B-A381-35C3332164B5}" destId="{8AB1AA6A-B442-4876-9D69-AC2E78B82D91}" srcOrd="2" destOrd="0" presId="urn:microsoft.com/office/officeart/2018/2/layout/IconVerticalSolidList"/>
    <dgm:cxn modelId="{01A4D0AE-AE0A-402E-A8F8-02CE74E1BBFB}" type="presParOf" srcId="{DC7E9DC7-2AFA-422B-A381-35C3332164B5}" destId="{7E98FFA9-E4C1-4DB6-807A-67017C9344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9FC193-7A05-4631-B681-B56EAB543D38}"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6857B86A-DEC1-407C-A1BB-5BF9ACCBCA6A}">
      <dgm:prSet phldrT="[Text]"/>
      <dgm:spPr/>
      <dgm:t>
        <a:bodyPr/>
        <a:lstStyle/>
        <a:p>
          <a:pPr>
            <a:lnSpc>
              <a:spcPct val="100000"/>
            </a:lnSpc>
            <a:defRPr b="1"/>
          </a:pPr>
          <a:r>
            <a:rPr lang="en-IN" b="1"/>
            <a:t>Background and Motivation</a:t>
          </a:r>
          <a:endParaRPr lang="en-US" b="1">
            <a:latin typeface="Tahoma" panose="020B0604030504040204" pitchFamily="34" charset="0"/>
            <a:ea typeface="Tahoma" panose="020B0604030504040204" pitchFamily="34" charset="0"/>
            <a:cs typeface="Tahoma" panose="020B0604030504040204" pitchFamily="34" charset="0"/>
          </a:endParaRPr>
        </a:p>
      </dgm:t>
    </dgm:pt>
    <dgm:pt modelId="{8CA7BF9B-8199-4683-AD57-CB0086659013}" type="parTrans" cxnId="{B12F0503-977A-4B5D-8CB7-420B041FF863}">
      <dgm:prSet/>
      <dgm:spPr/>
      <dgm:t>
        <a:bodyPr/>
        <a:lstStyle/>
        <a:p>
          <a:endParaRPr lang="en-US"/>
        </a:p>
      </dgm:t>
    </dgm:pt>
    <dgm:pt modelId="{F087F24E-A7D7-4DCE-B2A7-9B941289621A}" type="sibTrans" cxnId="{B12F0503-977A-4B5D-8CB7-420B041FF863}">
      <dgm:prSet/>
      <dgm:spPr/>
      <dgm:t>
        <a:bodyPr/>
        <a:lstStyle/>
        <a:p>
          <a:endParaRPr lang="en-US"/>
        </a:p>
      </dgm:t>
    </dgm:pt>
    <dgm:pt modelId="{4C8BFA56-3F75-4CAD-90A3-2F214D699322}">
      <dgm:prSet phldrT="[Text]"/>
      <dgm:spPr/>
      <dgm:t>
        <a:bodyPr/>
        <a:lstStyle/>
        <a:p>
          <a:pPr>
            <a:lnSpc>
              <a:spcPct val="100000"/>
            </a:lnSpc>
            <a:buFont typeface="Arial" panose="020B0604020202020204" pitchFamily="34" charset="0"/>
            <a:buNone/>
          </a:pPr>
          <a:r>
            <a:rPr lang="en-US" b="0" dirty="0"/>
            <a:t>The brain produces continuous electrical signals representing cognitive states (attention, sleep, stress).</a:t>
          </a:r>
          <a:endParaRPr lang="en-US" b="0" dirty="0">
            <a:latin typeface="Tahoma" panose="020B0604030504040204" pitchFamily="34" charset="0"/>
            <a:ea typeface="Tahoma" panose="020B0604030504040204" pitchFamily="34" charset="0"/>
            <a:cs typeface="Tahoma" panose="020B0604030504040204" pitchFamily="34" charset="0"/>
          </a:endParaRPr>
        </a:p>
      </dgm:t>
    </dgm:pt>
    <dgm:pt modelId="{9A6E3B20-A734-4412-84CF-0134D93D4B28}" type="parTrans" cxnId="{4CD5FCDD-1F8A-43A3-BD77-CBE3B3864C41}">
      <dgm:prSet/>
      <dgm:spPr/>
      <dgm:t>
        <a:bodyPr/>
        <a:lstStyle/>
        <a:p>
          <a:endParaRPr lang="en-US"/>
        </a:p>
      </dgm:t>
    </dgm:pt>
    <dgm:pt modelId="{7B50916F-B8BA-427F-B9F0-A301E54D7FB3}" type="sibTrans" cxnId="{4CD5FCDD-1F8A-43A3-BD77-CBE3B3864C41}">
      <dgm:prSet/>
      <dgm:spPr/>
      <dgm:t>
        <a:bodyPr/>
        <a:lstStyle/>
        <a:p>
          <a:endParaRPr lang="en-US"/>
        </a:p>
      </dgm:t>
    </dgm:pt>
    <dgm:pt modelId="{ABA77F75-8642-4931-8D7E-BE6C6DB9940D}">
      <dgm:prSet phldrT="[Text]"/>
      <dgm:spPr/>
      <dgm:t>
        <a:bodyPr/>
        <a:lstStyle/>
        <a:p>
          <a:pPr>
            <a:lnSpc>
              <a:spcPct val="100000"/>
            </a:lnSpc>
            <a:defRPr b="1"/>
          </a:pPr>
          <a:r>
            <a:rPr lang="en-IN" b="1"/>
            <a:t>Problem Statement</a:t>
          </a:r>
          <a:endParaRPr lang="en-US" b="1">
            <a:latin typeface="Tahoma" panose="020B0604030504040204" pitchFamily="34" charset="0"/>
            <a:ea typeface="Tahoma" panose="020B0604030504040204" pitchFamily="34" charset="0"/>
            <a:cs typeface="Tahoma" panose="020B0604030504040204" pitchFamily="34" charset="0"/>
          </a:endParaRPr>
        </a:p>
      </dgm:t>
    </dgm:pt>
    <dgm:pt modelId="{FCF9AE1B-B22B-4F91-BFD8-DDBBF762F128}" type="parTrans" cxnId="{D959B3EA-A66A-4B40-901C-93ECD4985A93}">
      <dgm:prSet/>
      <dgm:spPr/>
      <dgm:t>
        <a:bodyPr/>
        <a:lstStyle/>
        <a:p>
          <a:endParaRPr lang="en-US"/>
        </a:p>
      </dgm:t>
    </dgm:pt>
    <dgm:pt modelId="{1A095211-ADB0-42CA-9F24-F1BC942872F3}" type="sibTrans" cxnId="{D959B3EA-A66A-4B40-901C-93ECD4985A93}">
      <dgm:prSet/>
      <dgm:spPr/>
      <dgm:t>
        <a:bodyPr/>
        <a:lstStyle/>
        <a:p>
          <a:endParaRPr lang="en-US"/>
        </a:p>
      </dgm:t>
    </dgm:pt>
    <dgm:pt modelId="{611C3B18-07F8-4A66-9682-97E24AEF6014}">
      <dgm:prSet phldrT="[Text]"/>
      <dgm:spPr/>
      <dgm:t>
        <a:bodyPr/>
        <a:lstStyle/>
        <a:p>
          <a:pPr>
            <a:lnSpc>
              <a:spcPct val="100000"/>
            </a:lnSpc>
          </a:pPr>
          <a:r>
            <a:rPr lang="en-US" b="0"/>
            <a:t>Existing ear-EEG systems monitor only EEG signals (single parameter).</a:t>
          </a:r>
          <a:endParaRPr lang="en-US" b="0">
            <a:latin typeface="Tahoma" panose="020B0604030504040204" pitchFamily="34" charset="0"/>
            <a:ea typeface="Tahoma" panose="020B0604030504040204" pitchFamily="34" charset="0"/>
            <a:cs typeface="Tahoma" panose="020B0604030504040204" pitchFamily="34" charset="0"/>
          </a:endParaRPr>
        </a:p>
      </dgm:t>
    </dgm:pt>
    <dgm:pt modelId="{5940BF2D-F08A-4150-9A86-173D9242DE8C}" type="parTrans" cxnId="{D5D61B4C-1312-427C-BDCC-013237D8A488}">
      <dgm:prSet/>
      <dgm:spPr/>
      <dgm:t>
        <a:bodyPr/>
        <a:lstStyle/>
        <a:p>
          <a:endParaRPr lang="en-US"/>
        </a:p>
      </dgm:t>
    </dgm:pt>
    <dgm:pt modelId="{477660C6-2B6D-4FB8-B9A3-D555E2082C2A}" type="sibTrans" cxnId="{D5D61B4C-1312-427C-BDCC-013237D8A488}">
      <dgm:prSet/>
      <dgm:spPr/>
      <dgm:t>
        <a:bodyPr/>
        <a:lstStyle/>
        <a:p>
          <a:endParaRPr lang="en-US"/>
        </a:p>
      </dgm:t>
    </dgm:pt>
    <dgm:pt modelId="{6EE89B4E-BAED-4A90-B29D-70AF11256801}">
      <dgm:prSet phldrT="[Text]"/>
      <dgm:spPr/>
      <dgm:t>
        <a:bodyPr/>
        <a:lstStyle/>
        <a:p>
          <a:pPr>
            <a:lnSpc>
              <a:spcPct val="100000"/>
            </a:lnSpc>
          </a:pPr>
          <a:r>
            <a:rPr lang="en-US" b="0"/>
            <a:t>Can a low-cost, multimodal wearable ear-EEG system integrating SpO2, heart rate, and ear canal temperature provide reliable real-time brain activity monitoring suitable for ambulatory use?</a:t>
          </a:r>
          <a:endParaRPr lang="en-US" b="0">
            <a:latin typeface="Tahoma" panose="020B0604030504040204" pitchFamily="34" charset="0"/>
            <a:ea typeface="Tahoma" panose="020B0604030504040204" pitchFamily="34" charset="0"/>
            <a:cs typeface="Tahoma" panose="020B0604030504040204" pitchFamily="34" charset="0"/>
          </a:endParaRPr>
        </a:p>
      </dgm:t>
    </dgm:pt>
    <dgm:pt modelId="{39BF20C7-31E5-452B-8EA2-17224A13C7FB}" type="parTrans" cxnId="{CA949A5F-9945-4C59-A233-D70AFFF70BDA}">
      <dgm:prSet/>
      <dgm:spPr/>
      <dgm:t>
        <a:bodyPr/>
        <a:lstStyle/>
        <a:p>
          <a:endParaRPr lang="en-US"/>
        </a:p>
      </dgm:t>
    </dgm:pt>
    <dgm:pt modelId="{E71503C3-CFB7-4144-AD9F-7A42A87A3A6B}" type="sibTrans" cxnId="{CA949A5F-9945-4C59-A233-D70AFFF70BDA}">
      <dgm:prSet/>
      <dgm:spPr/>
      <dgm:t>
        <a:bodyPr/>
        <a:lstStyle/>
        <a:p>
          <a:endParaRPr lang="en-US"/>
        </a:p>
      </dgm:t>
    </dgm:pt>
    <dgm:pt modelId="{DA5DFAD8-E443-4F53-9341-A0903BBBD378}">
      <dgm:prSet phldrT="[Text]"/>
      <dgm:spPr/>
      <dgm:t>
        <a:bodyPr/>
        <a:lstStyle/>
        <a:p>
          <a:pPr>
            <a:lnSpc>
              <a:spcPct val="100000"/>
            </a:lnSpc>
            <a:defRPr b="1"/>
          </a:pPr>
          <a:r>
            <a:rPr lang="en-IN" b="1"/>
            <a:t>Research Question</a:t>
          </a:r>
          <a:endParaRPr lang="en-US" b="1">
            <a:latin typeface="Tahoma" panose="020B0604030504040204" pitchFamily="34" charset="0"/>
            <a:ea typeface="Tahoma" panose="020B0604030504040204" pitchFamily="34" charset="0"/>
            <a:cs typeface="Tahoma" panose="020B0604030504040204" pitchFamily="34" charset="0"/>
          </a:endParaRPr>
        </a:p>
      </dgm:t>
    </dgm:pt>
    <dgm:pt modelId="{76D9F54E-47B3-4FE0-B465-AD673964072E}" type="sibTrans" cxnId="{0073D4C3-F488-4F79-B637-186FAECF6BAD}">
      <dgm:prSet/>
      <dgm:spPr/>
      <dgm:t>
        <a:bodyPr/>
        <a:lstStyle/>
        <a:p>
          <a:endParaRPr lang="en-US"/>
        </a:p>
      </dgm:t>
    </dgm:pt>
    <dgm:pt modelId="{F6012B3B-01B0-4E7C-A363-0177B95D3DD8}" type="parTrans" cxnId="{0073D4C3-F488-4F79-B637-186FAECF6BAD}">
      <dgm:prSet/>
      <dgm:spPr/>
      <dgm:t>
        <a:bodyPr/>
        <a:lstStyle/>
        <a:p>
          <a:endParaRPr lang="en-US"/>
        </a:p>
      </dgm:t>
    </dgm:pt>
    <dgm:pt modelId="{946DAED5-34E1-47E2-B6F3-4EAE02402324}">
      <dgm:prSet phldrT="[Text]"/>
      <dgm:spPr/>
      <dgm:t>
        <a:bodyPr/>
        <a:lstStyle/>
        <a:p>
          <a:pPr>
            <a:lnSpc>
              <a:spcPct val="100000"/>
            </a:lnSpc>
            <a:buFont typeface="Arial" panose="020B0604020202020204" pitchFamily="34" charset="0"/>
            <a:buNone/>
          </a:pPr>
          <a:r>
            <a:rPr lang="en-US" b="0" dirty="0"/>
            <a:t>Electroencephalography (EEG) is used to record these signals.</a:t>
          </a:r>
          <a:endParaRPr lang="en-US" b="0" dirty="0">
            <a:latin typeface="Tahoma" panose="020B0604030504040204" pitchFamily="34" charset="0"/>
            <a:ea typeface="Tahoma" panose="020B0604030504040204" pitchFamily="34" charset="0"/>
            <a:cs typeface="Tahoma" panose="020B0604030504040204" pitchFamily="34" charset="0"/>
          </a:endParaRPr>
        </a:p>
      </dgm:t>
    </dgm:pt>
    <dgm:pt modelId="{EA51D767-9E64-47D6-999E-562AA0E5E72F}" type="parTrans" cxnId="{D3577448-44B9-4BE2-8D12-AAC5133ED90A}">
      <dgm:prSet/>
      <dgm:spPr/>
      <dgm:t>
        <a:bodyPr/>
        <a:lstStyle/>
        <a:p>
          <a:endParaRPr lang="en-IN"/>
        </a:p>
      </dgm:t>
    </dgm:pt>
    <dgm:pt modelId="{FC4E2398-F26E-40E6-A40D-83070FF45284}" type="sibTrans" cxnId="{D3577448-44B9-4BE2-8D12-AAC5133ED90A}">
      <dgm:prSet/>
      <dgm:spPr/>
      <dgm:t>
        <a:bodyPr/>
        <a:lstStyle/>
        <a:p>
          <a:endParaRPr lang="en-US"/>
        </a:p>
      </dgm:t>
    </dgm:pt>
    <dgm:pt modelId="{B953F5D1-C8D6-428A-ABA9-2F9FA186F066}">
      <dgm:prSet/>
      <dgm:spPr/>
      <dgm:t>
        <a:bodyPr/>
        <a:lstStyle/>
        <a:p>
          <a:pPr>
            <a:lnSpc>
              <a:spcPct val="100000"/>
            </a:lnSpc>
            <a:buFont typeface="Arial" panose="020B0604020202020204" pitchFamily="34" charset="0"/>
            <a:buNone/>
          </a:pPr>
          <a:r>
            <a:rPr lang="en-US" b="0" dirty="0"/>
            <a:t>Traditional scalp EEG requires clinical setup and trained personnel.</a:t>
          </a:r>
        </a:p>
      </dgm:t>
    </dgm:pt>
    <dgm:pt modelId="{BF07357D-3C68-4391-A976-AF30C90621AC}" type="parTrans" cxnId="{9D27F53A-745E-4A8F-A210-000FE84081D1}">
      <dgm:prSet/>
      <dgm:spPr/>
      <dgm:t>
        <a:bodyPr/>
        <a:lstStyle/>
        <a:p>
          <a:endParaRPr lang="en-IN"/>
        </a:p>
      </dgm:t>
    </dgm:pt>
    <dgm:pt modelId="{0C67DCD8-359E-43F0-B0CF-B79BB0BCC1C8}" type="sibTrans" cxnId="{9D27F53A-745E-4A8F-A210-000FE84081D1}">
      <dgm:prSet/>
      <dgm:spPr/>
      <dgm:t>
        <a:bodyPr/>
        <a:lstStyle/>
        <a:p>
          <a:endParaRPr lang="en-IN"/>
        </a:p>
      </dgm:t>
    </dgm:pt>
    <dgm:pt modelId="{24D44CFA-8071-4EFC-A9AA-761D80D8738F}">
      <dgm:prSet/>
      <dgm:spPr/>
      <dgm:t>
        <a:bodyPr/>
        <a:lstStyle/>
        <a:p>
          <a:pPr>
            <a:lnSpc>
              <a:spcPct val="100000"/>
            </a:lnSpc>
            <a:buFont typeface="Arial" panose="020B0604020202020204" pitchFamily="34" charset="0"/>
            <a:buNone/>
          </a:pPr>
          <a:r>
            <a:rPr lang="en-US" b="0" dirty="0"/>
            <a:t>It is not suitable for daily or ambulatory use.</a:t>
          </a:r>
        </a:p>
      </dgm:t>
    </dgm:pt>
    <dgm:pt modelId="{4D9C8837-43E1-4115-A0FF-8E4EA269AD9D}" type="parTrans" cxnId="{39E43CD3-05AC-4226-B49B-551A6BDDED9F}">
      <dgm:prSet/>
      <dgm:spPr/>
      <dgm:t>
        <a:bodyPr/>
        <a:lstStyle/>
        <a:p>
          <a:endParaRPr lang="en-IN"/>
        </a:p>
      </dgm:t>
    </dgm:pt>
    <dgm:pt modelId="{D5498C67-32C8-4B5D-8BA6-9EEC07CD664E}" type="sibTrans" cxnId="{39E43CD3-05AC-4226-B49B-551A6BDDED9F}">
      <dgm:prSet/>
      <dgm:spPr/>
      <dgm:t>
        <a:bodyPr/>
        <a:lstStyle/>
        <a:p>
          <a:endParaRPr lang="en-IN"/>
        </a:p>
      </dgm:t>
    </dgm:pt>
    <dgm:pt modelId="{C6569E3B-1A92-4008-8BBD-2351B04DCD0A}">
      <dgm:prSet/>
      <dgm:spPr/>
      <dgm:t>
        <a:bodyPr/>
        <a:lstStyle/>
        <a:p>
          <a:pPr>
            <a:lnSpc>
              <a:spcPct val="100000"/>
            </a:lnSpc>
            <a:buFont typeface="Arial" panose="020B0604020202020204" pitchFamily="34" charset="0"/>
            <a:buNone/>
          </a:pPr>
          <a:r>
            <a:rPr lang="en-US" b="0" dirty="0"/>
            <a:t>In-ear EEG uses ear canal electrodes, offering stable, real-world brain monitoring.</a:t>
          </a:r>
        </a:p>
      </dgm:t>
    </dgm:pt>
    <dgm:pt modelId="{42A339F0-4BC1-461E-8714-79ACC9B766CB}" type="parTrans" cxnId="{228A012E-D898-42DC-AAEB-2082F2C54277}">
      <dgm:prSet/>
      <dgm:spPr/>
      <dgm:t>
        <a:bodyPr/>
        <a:lstStyle/>
        <a:p>
          <a:endParaRPr lang="en-IN"/>
        </a:p>
      </dgm:t>
    </dgm:pt>
    <dgm:pt modelId="{1F9247C0-0B75-4D2F-BDB7-45690B8A2A48}" type="sibTrans" cxnId="{228A012E-D898-42DC-AAEB-2082F2C54277}">
      <dgm:prSet/>
      <dgm:spPr/>
      <dgm:t>
        <a:bodyPr/>
        <a:lstStyle/>
        <a:p>
          <a:endParaRPr lang="en-IN"/>
        </a:p>
      </dgm:t>
    </dgm:pt>
    <dgm:pt modelId="{29B0CB38-FCE6-42E6-87EB-EA375D97319B}">
      <dgm:prSet/>
      <dgm:spPr/>
      <dgm:t>
        <a:bodyPr/>
        <a:lstStyle/>
        <a:p>
          <a:pPr>
            <a:lnSpc>
              <a:spcPct val="100000"/>
            </a:lnSpc>
          </a:pPr>
          <a:r>
            <a:rPr lang="en-US" b="0" dirty="0"/>
            <a:t>They lack integration with other physiological signals (SpO₂, heart rate, temperature).</a:t>
          </a:r>
        </a:p>
      </dgm:t>
    </dgm:pt>
    <dgm:pt modelId="{3F4991DE-4DF3-4C92-99A3-00C20A9EDE5A}" type="parTrans" cxnId="{F40D8B87-8BFD-4400-BE6B-0E22F220EAF8}">
      <dgm:prSet/>
      <dgm:spPr/>
      <dgm:t>
        <a:bodyPr/>
        <a:lstStyle/>
        <a:p>
          <a:endParaRPr lang="en-IN"/>
        </a:p>
      </dgm:t>
    </dgm:pt>
    <dgm:pt modelId="{7822A271-0585-42AF-9173-9DA48BF507D6}" type="sibTrans" cxnId="{F40D8B87-8BFD-4400-BE6B-0E22F220EAF8}">
      <dgm:prSet/>
      <dgm:spPr/>
      <dgm:t>
        <a:bodyPr/>
        <a:lstStyle/>
        <a:p>
          <a:endParaRPr lang="en-IN"/>
        </a:p>
      </dgm:t>
    </dgm:pt>
    <dgm:pt modelId="{313B10B4-089B-4E66-99A6-41FA698F4FC1}">
      <dgm:prSet/>
      <dgm:spPr/>
      <dgm:t>
        <a:bodyPr/>
        <a:lstStyle/>
        <a:p>
          <a:pPr>
            <a:lnSpc>
              <a:spcPct val="100000"/>
            </a:lnSpc>
          </a:pPr>
          <a:r>
            <a:rPr lang="en-US" b="0"/>
            <a:t>Systems are expensive and laboratory-grade.</a:t>
          </a:r>
        </a:p>
      </dgm:t>
    </dgm:pt>
    <dgm:pt modelId="{C4195B35-8519-416F-A896-C82DB730FEEA}" type="parTrans" cxnId="{6286017B-AF9B-45DF-8B13-A6DAF97E7639}">
      <dgm:prSet/>
      <dgm:spPr/>
      <dgm:t>
        <a:bodyPr/>
        <a:lstStyle/>
        <a:p>
          <a:endParaRPr lang="en-IN"/>
        </a:p>
      </dgm:t>
    </dgm:pt>
    <dgm:pt modelId="{9EF22877-5107-4239-952B-571A857781A7}" type="sibTrans" cxnId="{6286017B-AF9B-45DF-8B13-A6DAF97E7639}">
      <dgm:prSet/>
      <dgm:spPr/>
      <dgm:t>
        <a:bodyPr/>
        <a:lstStyle/>
        <a:p>
          <a:endParaRPr lang="en-IN"/>
        </a:p>
      </dgm:t>
    </dgm:pt>
    <dgm:pt modelId="{E5127AD3-5953-444F-A93F-4E7CE49FF1E8}">
      <dgm:prSet/>
      <dgm:spPr/>
      <dgm:t>
        <a:bodyPr/>
        <a:lstStyle/>
        <a:p>
          <a:pPr>
            <a:lnSpc>
              <a:spcPct val="100000"/>
            </a:lnSpc>
          </a:pPr>
          <a:r>
            <a:rPr lang="en-US" b="0"/>
            <a:t>Require wired amplifiers, limiting portability.</a:t>
          </a:r>
        </a:p>
      </dgm:t>
    </dgm:pt>
    <dgm:pt modelId="{C1A5AD55-9653-4C60-A55E-AC4C696C90B2}" type="parTrans" cxnId="{BCDE9DE5-69F0-46AE-931F-1D008D5465C5}">
      <dgm:prSet/>
      <dgm:spPr/>
      <dgm:t>
        <a:bodyPr/>
        <a:lstStyle/>
        <a:p>
          <a:endParaRPr lang="en-IN"/>
        </a:p>
      </dgm:t>
    </dgm:pt>
    <dgm:pt modelId="{3D8EF57F-9EF9-4A59-A76C-7F954D6B7787}" type="sibTrans" cxnId="{BCDE9DE5-69F0-46AE-931F-1D008D5465C5}">
      <dgm:prSet/>
      <dgm:spPr/>
      <dgm:t>
        <a:bodyPr/>
        <a:lstStyle/>
        <a:p>
          <a:endParaRPr lang="en-IN"/>
        </a:p>
      </dgm:t>
    </dgm:pt>
    <dgm:pt modelId="{D46361EB-4C2E-4036-B30E-2F5AAB31D5FF}">
      <dgm:prSet/>
      <dgm:spPr/>
      <dgm:t>
        <a:bodyPr/>
        <a:lstStyle/>
        <a:p>
          <a:pPr>
            <a:lnSpc>
              <a:spcPct val="100000"/>
            </a:lnSpc>
          </a:pPr>
          <a:r>
            <a:rPr lang="en-US" b="0"/>
            <a:t>Single-parameter monitoring reduces accuracy and reliability of brain state classification.</a:t>
          </a:r>
        </a:p>
      </dgm:t>
    </dgm:pt>
    <dgm:pt modelId="{05F3A057-344B-4D60-8F01-D01A5192E04D}" type="parTrans" cxnId="{81674F59-44E8-43B4-95FF-ABA24D9912BB}">
      <dgm:prSet/>
      <dgm:spPr/>
      <dgm:t>
        <a:bodyPr/>
        <a:lstStyle/>
        <a:p>
          <a:endParaRPr lang="en-IN"/>
        </a:p>
      </dgm:t>
    </dgm:pt>
    <dgm:pt modelId="{72EEBD0C-93DC-4481-8603-9367134BDA15}" type="sibTrans" cxnId="{81674F59-44E8-43B4-95FF-ABA24D9912BB}">
      <dgm:prSet/>
      <dgm:spPr/>
      <dgm:t>
        <a:bodyPr/>
        <a:lstStyle/>
        <a:p>
          <a:endParaRPr lang="en-IN"/>
        </a:p>
      </dgm:t>
    </dgm:pt>
    <dgm:pt modelId="{4BB35CE6-CF9A-4A4B-B56D-1B3E140267FB}" type="pres">
      <dgm:prSet presAssocID="{CF9FC193-7A05-4631-B681-B56EAB543D38}" presName="root" presStyleCnt="0">
        <dgm:presLayoutVars>
          <dgm:dir/>
          <dgm:resizeHandles val="exact"/>
        </dgm:presLayoutVars>
      </dgm:prSet>
      <dgm:spPr/>
    </dgm:pt>
    <dgm:pt modelId="{900CCA95-F7CF-4B75-B23C-262788161B92}" type="pres">
      <dgm:prSet presAssocID="{6857B86A-DEC1-407C-A1BB-5BF9ACCBCA6A}" presName="compNode" presStyleCnt="0"/>
      <dgm:spPr/>
    </dgm:pt>
    <dgm:pt modelId="{2A4B62BA-871D-4095-A65E-F35A228F6F71}" type="pres">
      <dgm:prSet presAssocID="{6857B86A-DEC1-407C-A1BB-5BF9ACCBCA6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a:ext>
      </dgm:extLst>
    </dgm:pt>
    <dgm:pt modelId="{BFDE8FAC-64A8-4F32-85CC-97B7D1604264}" type="pres">
      <dgm:prSet presAssocID="{6857B86A-DEC1-407C-A1BB-5BF9ACCBCA6A}" presName="iconSpace" presStyleCnt="0"/>
      <dgm:spPr/>
    </dgm:pt>
    <dgm:pt modelId="{6B2E7DF1-3084-4E3E-9514-E3854D1BC15B}" type="pres">
      <dgm:prSet presAssocID="{6857B86A-DEC1-407C-A1BB-5BF9ACCBCA6A}" presName="parTx" presStyleLbl="revTx" presStyleIdx="0" presStyleCnt="6">
        <dgm:presLayoutVars>
          <dgm:chMax val="0"/>
          <dgm:chPref val="0"/>
        </dgm:presLayoutVars>
      </dgm:prSet>
      <dgm:spPr/>
    </dgm:pt>
    <dgm:pt modelId="{C108AE1B-A5FD-4AA7-98E6-35F664D5F4D8}" type="pres">
      <dgm:prSet presAssocID="{6857B86A-DEC1-407C-A1BB-5BF9ACCBCA6A}" presName="txSpace" presStyleCnt="0"/>
      <dgm:spPr/>
    </dgm:pt>
    <dgm:pt modelId="{047FAF53-6256-478C-AF0E-D2686BE1D5BA}" type="pres">
      <dgm:prSet presAssocID="{6857B86A-DEC1-407C-A1BB-5BF9ACCBCA6A}" presName="desTx" presStyleLbl="revTx" presStyleIdx="1" presStyleCnt="6">
        <dgm:presLayoutVars/>
      </dgm:prSet>
      <dgm:spPr/>
    </dgm:pt>
    <dgm:pt modelId="{9FB33EF9-BA83-463A-96AB-B3E00043D2FF}" type="pres">
      <dgm:prSet presAssocID="{F087F24E-A7D7-4DCE-B2A7-9B941289621A}" presName="sibTrans" presStyleCnt="0"/>
      <dgm:spPr/>
    </dgm:pt>
    <dgm:pt modelId="{6034E728-6D81-45BF-B419-ACAF97BF89F3}" type="pres">
      <dgm:prSet presAssocID="{ABA77F75-8642-4931-8D7E-BE6C6DB9940D}" presName="compNode" presStyleCnt="0"/>
      <dgm:spPr/>
    </dgm:pt>
    <dgm:pt modelId="{487D6EC2-593A-480A-979E-2B92647118E3}" type="pres">
      <dgm:prSet presAssocID="{ABA77F75-8642-4931-8D7E-BE6C6DB9940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n in head"/>
        </a:ext>
      </dgm:extLst>
    </dgm:pt>
    <dgm:pt modelId="{3B493A7D-4A42-40A5-AF6A-962CC7A068B9}" type="pres">
      <dgm:prSet presAssocID="{ABA77F75-8642-4931-8D7E-BE6C6DB9940D}" presName="iconSpace" presStyleCnt="0"/>
      <dgm:spPr/>
    </dgm:pt>
    <dgm:pt modelId="{5EB5E41E-E658-48C2-A24B-046CD160CF4C}" type="pres">
      <dgm:prSet presAssocID="{ABA77F75-8642-4931-8D7E-BE6C6DB9940D}" presName="parTx" presStyleLbl="revTx" presStyleIdx="2" presStyleCnt="6">
        <dgm:presLayoutVars>
          <dgm:chMax val="0"/>
          <dgm:chPref val="0"/>
        </dgm:presLayoutVars>
      </dgm:prSet>
      <dgm:spPr/>
    </dgm:pt>
    <dgm:pt modelId="{CBB4A1A6-259B-4222-AC06-24A3915F0A61}" type="pres">
      <dgm:prSet presAssocID="{ABA77F75-8642-4931-8D7E-BE6C6DB9940D}" presName="txSpace" presStyleCnt="0"/>
      <dgm:spPr/>
    </dgm:pt>
    <dgm:pt modelId="{2AB6AA48-9CF5-41A6-8829-E6A7F29803C3}" type="pres">
      <dgm:prSet presAssocID="{ABA77F75-8642-4931-8D7E-BE6C6DB9940D}" presName="desTx" presStyleLbl="revTx" presStyleIdx="3" presStyleCnt="6">
        <dgm:presLayoutVars/>
      </dgm:prSet>
      <dgm:spPr/>
    </dgm:pt>
    <dgm:pt modelId="{C7405CD7-E403-45CB-AFF2-4115AF18EA8F}" type="pres">
      <dgm:prSet presAssocID="{1A095211-ADB0-42CA-9F24-F1BC942872F3}" presName="sibTrans" presStyleCnt="0"/>
      <dgm:spPr/>
    </dgm:pt>
    <dgm:pt modelId="{A4B7B5E0-C404-4107-B462-6A8284D32EDF}" type="pres">
      <dgm:prSet presAssocID="{DA5DFAD8-E443-4F53-9341-A0903BBBD378}" presName="compNode" presStyleCnt="0"/>
      <dgm:spPr/>
    </dgm:pt>
    <dgm:pt modelId="{1BC32F8D-DA95-4958-87E2-E6F49648F748}" type="pres">
      <dgm:prSet presAssocID="{DA5DFAD8-E443-4F53-9341-A0903BBBD37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with Pulse"/>
        </a:ext>
      </dgm:extLst>
    </dgm:pt>
    <dgm:pt modelId="{7E2F379B-863A-4F37-BB96-810F081955D0}" type="pres">
      <dgm:prSet presAssocID="{DA5DFAD8-E443-4F53-9341-A0903BBBD378}" presName="iconSpace" presStyleCnt="0"/>
      <dgm:spPr/>
    </dgm:pt>
    <dgm:pt modelId="{9FCCB490-5FC2-40BC-8EA7-8D23176005F3}" type="pres">
      <dgm:prSet presAssocID="{DA5DFAD8-E443-4F53-9341-A0903BBBD378}" presName="parTx" presStyleLbl="revTx" presStyleIdx="4" presStyleCnt="6">
        <dgm:presLayoutVars>
          <dgm:chMax val="0"/>
          <dgm:chPref val="0"/>
        </dgm:presLayoutVars>
      </dgm:prSet>
      <dgm:spPr/>
    </dgm:pt>
    <dgm:pt modelId="{CF05FF18-9900-42A4-9334-315F880DA74B}" type="pres">
      <dgm:prSet presAssocID="{DA5DFAD8-E443-4F53-9341-A0903BBBD378}" presName="txSpace" presStyleCnt="0"/>
      <dgm:spPr/>
    </dgm:pt>
    <dgm:pt modelId="{A58B1A5F-DD51-42DB-884B-505E133862BB}" type="pres">
      <dgm:prSet presAssocID="{DA5DFAD8-E443-4F53-9341-A0903BBBD378}" presName="desTx" presStyleLbl="revTx" presStyleIdx="5" presStyleCnt="6">
        <dgm:presLayoutVars/>
      </dgm:prSet>
      <dgm:spPr/>
    </dgm:pt>
  </dgm:ptLst>
  <dgm:cxnLst>
    <dgm:cxn modelId="{B12F0503-977A-4B5D-8CB7-420B041FF863}" srcId="{CF9FC193-7A05-4631-B681-B56EAB543D38}" destId="{6857B86A-DEC1-407C-A1BB-5BF9ACCBCA6A}" srcOrd="0" destOrd="0" parTransId="{8CA7BF9B-8199-4683-AD57-CB0086659013}" sibTransId="{F087F24E-A7D7-4DCE-B2A7-9B941289621A}"/>
    <dgm:cxn modelId="{5CE9BC05-8FC7-4FEE-8335-763DF4535B57}" type="presOf" srcId="{DA5DFAD8-E443-4F53-9341-A0903BBBD378}" destId="{9FCCB490-5FC2-40BC-8EA7-8D23176005F3}" srcOrd="0" destOrd="0" presId="urn:microsoft.com/office/officeart/2018/5/layout/CenteredIconLabelDescriptionList"/>
    <dgm:cxn modelId="{A8D93007-C97D-48DD-9488-3C3366CDA39D}" type="presOf" srcId="{ABA77F75-8642-4931-8D7E-BE6C6DB9940D}" destId="{5EB5E41E-E658-48C2-A24B-046CD160CF4C}" srcOrd="0" destOrd="0" presId="urn:microsoft.com/office/officeart/2018/5/layout/CenteredIconLabelDescriptionList"/>
    <dgm:cxn modelId="{3BEBB22A-A9B2-44BA-9164-9978189A5516}" type="presOf" srcId="{C6569E3B-1A92-4008-8BBD-2351B04DCD0A}" destId="{047FAF53-6256-478C-AF0E-D2686BE1D5BA}" srcOrd="0" destOrd="4" presId="urn:microsoft.com/office/officeart/2018/5/layout/CenteredIconLabelDescriptionList"/>
    <dgm:cxn modelId="{228A012E-D898-42DC-AAEB-2082F2C54277}" srcId="{6857B86A-DEC1-407C-A1BB-5BF9ACCBCA6A}" destId="{C6569E3B-1A92-4008-8BBD-2351B04DCD0A}" srcOrd="4" destOrd="0" parTransId="{42A339F0-4BC1-461E-8714-79ACC9B766CB}" sibTransId="{1F9247C0-0B75-4D2F-BDB7-45690B8A2A48}"/>
    <dgm:cxn modelId="{7F189530-B457-48F3-9A08-AAB05F978BAD}" type="presOf" srcId="{946DAED5-34E1-47E2-B6F3-4EAE02402324}" destId="{047FAF53-6256-478C-AF0E-D2686BE1D5BA}" srcOrd="0" destOrd="1" presId="urn:microsoft.com/office/officeart/2018/5/layout/CenteredIconLabelDescriptionList"/>
    <dgm:cxn modelId="{90FF3834-C9BE-4469-B3AD-0B29DDD2560E}" type="presOf" srcId="{313B10B4-089B-4E66-99A6-41FA698F4FC1}" destId="{2AB6AA48-9CF5-41A6-8829-E6A7F29803C3}" srcOrd="0" destOrd="2" presId="urn:microsoft.com/office/officeart/2018/5/layout/CenteredIconLabelDescriptionList"/>
    <dgm:cxn modelId="{9D27F53A-745E-4A8F-A210-000FE84081D1}" srcId="{6857B86A-DEC1-407C-A1BB-5BF9ACCBCA6A}" destId="{B953F5D1-C8D6-428A-ABA9-2F9FA186F066}" srcOrd="2" destOrd="0" parTransId="{BF07357D-3C68-4391-A976-AF30C90621AC}" sibTransId="{0C67DCD8-359E-43F0-B0CF-B79BB0BCC1C8}"/>
    <dgm:cxn modelId="{CA949A5F-9945-4C59-A233-D70AFFF70BDA}" srcId="{DA5DFAD8-E443-4F53-9341-A0903BBBD378}" destId="{6EE89B4E-BAED-4A90-B29D-70AF11256801}" srcOrd="0" destOrd="0" parTransId="{39BF20C7-31E5-452B-8EA2-17224A13C7FB}" sibTransId="{E71503C3-CFB7-4144-AD9F-7A42A87A3A6B}"/>
    <dgm:cxn modelId="{D3577448-44B9-4BE2-8D12-AAC5133ED90A}" srcId="{6857B86A-DEC1-407C-A1BB-5BF9ACCBCA6A}" destId="{946DAED5-34E1-47E2-B6F3-4EAE02402324}" srcOrd="1" destOrd="0" parTransId="{EA51D767-9E64-47D6-999E-562AA0E5E72F}" sibTransId="{FC4E2398-F26E-40E6-A40D-83070FF45284}"/>
    <dgm:cxn modelId="{AC503969-3137-4AD4-8927-1F55437C80ED}" type="presOf" srcId="{6EE89B4E-BAED-4A90-B29D-70AF11256801}" destId="{A58B1A5F-DD51-42DB-884B-505E133862BB}" srcOrd="0" destOrd="0" presId="urn:microsoft.com/office/officeart/2018/5/layout/CenteredIconLabelDescriptionList"/>
    <dgm:cxn modelId="{5112D16B-56C3-460B-9A61-E774E1B4B3D1}" type="presOf" srcId="{CF9FC193-7A05-4631-B681-B56EAB543D38}" destId="{4BB35CE6-CF9A-4A4B-B56D-1B3E140267FB}" srcOrd="0" destOrd="0" presId="urn:microsoft.com/office/officeart/2018/5/layout/CenteredIconLabelDescriptionList"/>
    <dgm:cxn modelId="{D5D61B4C-1312-427C-BDCC-013237D8A488}" srcId="{ABA77F75-8642-4931-8D7E-BE6C6DB9940D}" destId="{611C3B18-07F8-4A66-9682-97E24AEF6014}" srcOrd="0" destOrd="0" parTransId="{5940BF2D-F08A-4150-9A86-173D9242DE8C}" sibTransId="{477660C6-2B6D-4FB8-B9A3-D555E2082C2A}"/>
    <dgm:cxn modelId="{81674F59-44E8-43B4-95FF-ABA24D9912BB}" srcId="{ABA77F75-8642-4931-8D7E-BE6C6DB9940D}" destId="{D46361EB-4C2E-4036-B30E-2F5AAB31D5FF}" srcOrd="4" destOrd="0" parTransId="{05F3A057-344B-4D60-8F01-D01A5192E04D}" sibTransId="{72EEBD0C-93DC-4481-8603-9367134BDA15}"/>
    <dgm:cxn modelId="{6286017B-AF9B-45DF-8B13-A6DAF97E7639}" srcId="{ABA77F75-8642-4931-8D7E-BE6C6DB9940D}" destId="{313B10B4-089B-4E66-99A6-41FA698F4FC1}" srcOrd="2" destOrd="0" parTransId="{C4195B35-8519-416F-A896-C82DB730FEEA}" sibTransId="{9EF22877-5107-4239-952B-571A857781A7}"/>
    <dgm:cxn modelId="{F40D8B87-8BFD-4400-BE6B-0E22F220EAF8}" srcId="{ABA77F75-8642-4931-8D7E-BE6C6DB9940D}" destId="{29B0CB38-FCE6-42E6-87EB-EA375D97319B}" srcOrd="1" destOrd="0" parTransId="{3F4991DE-4DF3-4C92-99A3-00C20A9EDE5A}" sibTransId="{7822A271-0585-42AF-9173-9DA48BF507D6}"/>
    <dgm:cxn modelId="{F0B70C89-B57A-4960-8DA0-F63CD86BCE63}" type="presOf" srcId="{24D44CFA-8071-4EFC-A9AA-761D80D8738F}" destId="{047FAF53-6256-478C-AF0E-D2686BE1D5BA}" srcOrd="0" destOrd="3" presId="urn:microsoft.com/office/officeart/2018/5/layout/CenteredIconLabelDescriptionList"/>
    <dgm:cxn modelId="{EA7A7C96-73E9-4F76-AB9D-96272F3B70C9}" type="presOf" srcId="{6857B86A-DEC1-407C-A1BB-5BF9ACCBCA6A}" destId="{6B2E7DF1-3084-4E3E-9514-E3854D1BC15B}" srcOrd="0" destOrd="0" presId="urn:microsoft.com/office/officeart/2018/5/layout/CenteredIconLabelDescriptionList"/>
    <dgm:cxn modelId="{45C8DDB1-0CF9-43D3-BE5C-F7F202B846CB}" type="presOf" srcId="{E5127AD3-5953-444F-A93F-4E7CE49FF1E8}" destId="{2AB6AA48-9CF5-41A6-8829-E6A7F29803C3}" srcOrd="0" destOrd="3" presId="urn:microsoft.com/office/officeart/2018/5/layout/CenteredIconLabelDescriptionList"/>
    <dgm:cxn modelId="{A02F02B4-DB22-4BD0-A318-734A3816865C}" type="presOf" srcId="{B953F5D1-C8D6-428A-ABA9-2F9FA186F066}" destId="{047FAF53-6256-478C-AF0E-D2686BE1D5BA}" srcOrd="0" destOrd="2" presId="urn:microsoft.com/office/officeart/2018/5/layout/CenteredIconLabelDescriptionList"/>
    <dgm:cxn modelId="{0073D4C3-F488-4F79-B637-186FAECF6BAD}" srcId="{CF9FC193-7A05-4631-B681-B56EAB543D38}" destId="{DA5DFAD8-E443-4F53-9341-A0903BBBD378}" srcOrd="2" destOrd="0" parTransId="{F6012B3B-01B0-4E7C-A363-0177B95D3DD8}" sibTransId="{76D9F54E-47B3-4FE0-B465-AD673964072E}"/>
    <dgm:cxn modelId="{39E43CD3-05AC-4226-B49B-551A6BDDED9F}" srcId="{6857B86A-DEC1-407C-A1BB-5BF9ACCBCA6A}" destId="{24D44CFA-8071-4EFC-A9AA-761D80D8738F}" srcOrd="3" destOrd="0" parTransId="{4D9C8837-43E1-4115-A0FF-8E4EA269AD9D}" sibTransId="{D5498C67-32C8-4B5D-8BA6-9EEC07CD664E}"/>
    <dgm:cxn modelId="{AC9701D6-277D-448E-A148-BD53B8D0B334}" type="presOf" srcId="{D46361EB-4C2E-4036-B30E-2F5AAB31D5FF}" destId="{2AB6AA48-9CF5-41A6-8829-E6A7F29803C3}" srcOrd="0" destOrd="4" presId="urn:microsoft.com/office/officeart/2018/5/layout/CenteredIconLabelDescriptionList"/>
    <dgm:cxn modelId="{4CD5FCDD-1F8A-43A3-BD77-CBE3B3864C41}" srcId="{6857B86A-DEC1-407C-A1BB-5BF9ACCBCA6A}" destId="{4C8BFA56-3F75-4CAD-90A3-2F214D699322}" srcOrd="0" destOrd="0" parTransId="{9A6E3B20-A734-4412-84CF-0134D93D4B28}" sibTransId="{7B50916F-B8BA-427F-B9F0-A301E54D7FB3}"/>
    <dgm:cxn modelId="{03D488E0-2C0D-490C-B595-720F0EBCF0E1}" type="presOf" srcId="{4C8BFA56-3F75-4CAD-90A3-2F214D699322}" destId="{047FAF53-6256-478C-AF0E-D2686BE1D5BA}" srcOrd="0" destOrd="0" presId="urn:microsoft.com/office/officeart/2018/5/layout/CenteredIconLabelDescriptionList"/>
    <dgm:cxn modelId="{BCDE9DE5-69F0-46AE-931F-1D008D5465C5}" srcId="{ABA77F75-8642-4931-8D7E-BE6C6DB9940D}" destId="{E5127AD3-5953-444F-A93F-4E7CE49FF1E8}" srcOrd="3" destOrd="0" parTransId="{C1A5AD55-9653-4C60-A55E-AC4C696C90B2}" sibTransId="{3D8EF57F-9EF9-4A59-A76C-7F954D6B7787}"/>
    <dgm:cxn modelId="{9974EDE7-5D36-43ED-A2C9-5118B944C33F}" type="presOf" srcId="{611C3B18-07F8-4A66-9682-97E24AEF6014}" destId="{2AB6AA48-9CF5-41A6-8829-E6A7F29803C3}" srcOrd="0" destOrd="0" presId="urn:microsoft.com/office/officeart/2018/5/layout/CenteredIconLabelDescriptionList"/>
    <dgm:cxn modelId="{D959B3EA-A66A-4B40-901C-93ECD4985A93}" srcId="{CF9FC193-7A05-4631-B681-B56EAB543D38}" destId="{ABA77F75-8642-4931-8D7E-BE6C6DB9940D}" srcOrd="1" destOrd="0" parTransId="{FCF9AE1B-B22B-4F91-BFD8-DDBBF762F128}" sibTransId="{1A095211-ADB0-42CA-9F24-F1BC942872F3}"/>
    <dgm:cxn modelId="{CF7EB3FB-E5D6-4BE0-8DC5-91F12FC39D60}" type="presOf" srcId="{29B0CB38-FCE6-42E6-87EB-EA375D97319B}" destId="{2AB6AA48-9CF5-41A6-8829-E6A7F29803C3}" srcOrd="0" destOrd="1" presId="urn:microsoft.com/office/officeart/2018/5/layout/CenteredIconLabelDescriptionList"/>
    <dgm:cxn modelId="{EF137A70-3228-47C5-A7D2-6CA9F48E76FD}" type="presParOf" srcId="{4BB35CE6-CF9A-4A4B-B56D-1B3E140267FB}" destId="{900CCA95-F7CF-4B75-B23C-262788161B92}" srcOrd="0" destOrd="0" presId="urn:microsoft.com/office/officeart/2018/5/layout/CenteredIconLabelDescriptionList"/>
    <dgm:cxn modelId="{E313B51C-AEC8-4E22-9D52-76B64D79BE5D}" type="presParOf" srcId="{900CCA95-F7CF-4B75-B23C-262788161B92}" destId="{2A4B62BA-871D-4095-A65E-F35A228F6F71}" srcOrd="0" destOrd="0" presId="urn:microsoft.com/office/officeart/2018/5/layout/CenteredIconLabelDescriptionList"/>
    <dgm:cxn modelId="{7B500175-9F4E-4A7C-954B-7FAFF22C8A59}" type="presParOf" srcId="{900CCA95-F7CF-4B75-B23C-262788161B92}" destId="{BFDE8FAC-64A8-4F32-85CC-97B7D1604264}" srcOrd="1" destOrd="0" presId="urn:microsoft.com/office/officeart/2018/5/layout/CenteredIconLabelDescriptionList"/>
    <dgm:cxn modelId="{B39AD2F9-EADB-4151-843A-1285F11262E9}" type="presParOf" srcId="{900CCA95-F7CF-4B75-B23C-262788161B92}" destId="{6B2E7DF1-3084-4E3E-9514-E3854D1BC15B}" srcOrd="2" destOrd="0" presId="urn:microsoft.com/office/officeart/2018/5/layout/CenteredIconLabelDescriptionList"/>
    <dgm:cxn modelId="{92A6D13C-307B-4307-9EB6-4D94374DD2AE}" type="presParOf" srcId="{900CCA95-F7CF-4B75-B23C-262788161B92}" destId="{C108AE1B-A5FD-4AA7-98E6-35F664D5F4D8}" srcOrd="3" destOrd="0" presId="urn:microsoft.com/office/officeart/2018/5/layout/CenteredIconLabelDescriptionList"/>
    <dgm:cxn modelId="{CE0C4EBD-1C2E-46AA-8109-2508A3C75060}" type="presParOf" srcId="{900CCA95-F7CF-4B75-B23C-262788161B92}" destId="{047FAF53-6256-478C-AF0E-D2686BE1D5BA}" srcOrd="4" destOrd="0" presId="urn:microsoft.com/office/officeart/2018/5/layout/CenteredIconLabelDescriptionList"/>
    <dgm:cxn modelId="{C60DA87E-D26A-40A2-94C8-B9350B21060F}" type="presParOf" srcId="{4BB35CE6-CF9A-4A4B-B56D-1B3E140267FB}" destId="{9FB33EF9-BA83-463A-96AB-B3E00043D2FF}" srcOrd="1" destOrd="0" presId="urn:microsoft.com/office/officeart/2018/5/layout/CenteredIconLabelDescriptionList"/>
    <dgm:cxn modelId="{4587DCAA-9D41-4C36-8F7A-4B05140D002E}" type="presParOf" srcId="{4BB35CE6-CF9A-4A4B-B56D-1B3E140267FB}" destId="{6034E728-6D81-45BF-B419-ACAF97BF89F3}" srcOrd="2" destOrd="0" presId="urn:microsoft.com/office/officeart/2018/5/layout/CenteredIconLabelDescriptionList"/>
    <dgm:cxn modelId="{1D9D745E-19A2-4A87-B8D6-C04DC3D3F47E}" type="presParOf" srcId="{6034E728-6D81-45BF-B419-ACAF97BF89F3}" destId="{487D6EC2-593A-480A-979E-2B92647118E3}" srcOrd="0" destOrd="0" presId="urn:microsoft.com/office/officeart/2018/5/layout/CenteredIconLabelDescriptionList"/>
    <dgm:cxn modelId="{6E1718CC-56AD-4370-9CFF-47E86EA50780}" type="presParOf" srcId="{6034E728-6D81-45BF-B419-ACAF97BF89F3}" destId="{3B493A7D-4A42-40A5-AF6A-962CC7A068B9}" srcOrd="1" destOrd="0" presId="urn:microsoft.com/office/officeart/2018/5/layout/CenteredIconLabelDescriptionList"/>
    <dgm:cxn modelId="{62015294-A1D8-43D2-A607-CFC021E5920D}" type="presParOf" srcId="{6034E728-6D81-45BF-B419-ACAF97BF89F3}" destId="{5EB5E41E-E658-48C2-A24B-046CD160CF4C}" srcOrd="2" destOrd="0" presId="urn:microsoft.com/office/officeart/2018/5/layout/CenteredIconLabelDescriptionList"/>
    <dgm:cxn modelId="{27130347-514E-4C55-905D-645DC5CFB4D6}" type="presParOf" srcId="{6034E728-6D81-45BF-B419-ACAF97BF89F3}" destId="{CBB4A1A6-259B-4222-AC06-24A3915F0A61}" srcOrd="3" destOrd="0" presId="urn:microsoft.com/office/officeart/2018/5/layout/CenteredIconLabelDescriptionList"/>
    <dgm:cxn modelId="{5F94E270-E5D2-4534-96BE-7A260ACB1E4A}" type="presParOf" srcId="{6034E728-6D81-45BF-B419-ACAF97BF89F3}" destId="{2AB6AA48-9CF5-41A6-8829-E6A7F29803C3}" srcOrd="4" destOrd="0" presId="urn:microsoft.com/office/officeart/2018/5/layout/CenteredIconLabelDescriptionList"/>
    <dgm:cxn modelId="{AA531C39-42DE-438C-B19D-5F8D9CBF347C}" type="presParOf" srcId="{4BB35CE6-CF9A-4A4B-B56D-1B3E140267FB}" destId="{C7405CD7-E403-45CB-AFF2-4115AF18EA8F}" srcOrd="3" destOrd="0" presId="urn:microsoft.com/office/officeart/2018/5/layout/CenteredIconLabelDescriptionList"/>
    <dgm:cxn modelId="{5A039172-568F-4FBF-8C54-EF7541787A8D}" type="presParOf" srcId="{4BB35CE6-CF9A-4A4B-B56D-1B3E140267FB}" destId="{A4B7B5E0-C404-4107-B462-6A8284D32EDF}" srcOrd="4" destOrd="0" presId="urn:microsoft.com/office/officeart/2018/5/layout/CenteredIconLabelDescriptionList"/>
    <dgm:cxn modelId="{BF69D764-894F-4FA5-8190-5A5B45D688A6}" type="presParOf" srcId="{A4B7B5E0-C404-4107-B462-6A8284D32EDF}" destId="{1BC32F8D-DA95-4958-87E2-E6F49648F748}" srcOrd="0" destOrd="0" presId="urn:microsoft.com/office/officeart/2018/5/layout/CenteredIconLabelDescriptionList"/>
    <dgm:cxn modelId="{6A1636C6-8E43-49C3-BE91-0779592E715C}" type="presParOf" srcId="{A4B7B5E0-C404-4107-B462-6A8284D32EDF}" destId="{7E2F379B-863A-4F37-BB96-810F081955D0}" srcOrd="1" destOrd="0" presId="urn:microsoft.com/office/officeart/2018/5/layout/CenteredIconLabelDescriptionList"/>
    <dgm:cxn modelId="{CA282D14-53C4-470C-B49C-2B5637438D1E}" type="presParOf" srcId="{A4B7B5E0-C404-4107-B462-6A8284D32EDF}" destId="{9FCCB490-5FC2-40BC-8EA7-8D23176005F3}" srcOrd="2" destOrd="0" presId="urn:microsoft.com/office/officeart/2018/5/layout/CenteredIconLabelDescriptionList"/>
    <dgm:cxn modelId="{D6E72F87-4AF9-4D8C-BAB2-F61B7F98BEC6}" type="presParOf" srcId="{A4B7B5E0-C404-4107-B462-6A8284D32EDF}" destId="{CF05FF18-9900-42A4-9334-315F880DA74B}" srcOrd="3" destOrd="0" presId="urn:microsoft.com/office/officeart/2018/5/layout/CenteredIconLabelDescriptionList"/>
    <dgm:cxn modelId="{8DED5126-96CC-49DB-9C86-050025D1EA54}" type="presParOf" srcId="{A4B7B5E0-C404-4107-B462-6A8284D32EDF}" destId="{A58B1A5F-DD51-42DB-884B-505E133862BB}"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220526C-7623-4686-A108-9E2499AC99CB}"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B7FDBD1-5BEF-4AE7-8A46-88D8C2C9D070}">
      <dgm:prSet/>
      <dgm:spPr/>
      <dgm:t>
        <a:bodyPr/>
        <a:lstStyle/>
        <a:p>
          <a:r>
            <a:rPr lang="en-US"/>
            <a:t>J. Y. Juez et al., "Ear-EEG Devices for the Assessment of Brain Activity: A Review," </a:t>
          </a:r>
          <a:r>
            <a:rPr lang="en-US" i="1"/>
            <a:t>IEEE Sensors Journal</a:t>
          </a:r>
          <a:r>
            <a:rPr lang="en-US"/>
            <a:t>, vol. 24, no. 20, pp. 31606–31623, Oct. 2024. </a:t>
          </a:r>
        </a:p>
      </dgm:t>
    </dgm:pt>
    <dgm:pt modelId="{51221F24-5F0A-4919-8784-A8B5E98F3608}" type="parTrans" cxnId="{ABEE9B0C-A79E-442A-9208-8DCE3EE907D3}">
      <dgm:prSet/>
      <dgm:spPr/>
      <dgm:t>
        <a:bodyPr/>
        <a:lstStyle/>
        <a:p>
          <a:endParaRPr lang="en-US"/>
        </a:p>
      </dgm:t>
    </dgm:pt>
    <dgm:pt modelId="{417D9C30-60CF-4B3D-8B37-1BB84ED61615}" type="sibTrans" cxnId="{ABEE9B0C-A79E-442A-9208-8DCE3EE907D3}">
      <dgm:prSet/>
      <dgm:spPr/>
      <dgm:t>
        <a:bodyPr/>
        <a:lstStyle/>
        <a:p>
          <a:endParaRPr lang="en-US"/>
        </a:p>
      </dgm:t>
    </dgm:pt>
    <dgm:pt modelId="{28B4DDB7-0E06-4658-802B-0082A0F3BEF3}">
      <dgm:prSet/>
      <dgm:spPr/>
      <dgm:t>
        <a:bodyPr/>
        <a:lstStyle/>
        <a:p>
          <a:r>
            <a:rPr lang="en-US"/>
            <a:t>H. Moumane et al., "Signal Quality Evaluation of an In-Ear EEG Device in Comparison to a Conventional Cap System," </a:t>
          </a:r>
          <a:r>
            <a:rPr lang="en-US" i="1"/>
            <a:t>Frontiers in Neuroscience</a:t>
          </a:r>
          <a:r>
            <a:rPr lang="en-US"/>
            <a:t>, vol. 18, Sep. 2024. </a:t>
          </a:r>
        </a:p>
      </dgm:t>
    </dgm:pt>
    <dgm:pt modelId="{2D86AD73-0BF6-4AA3-863C-A8B5D46AD0DB}" type="parTrans" cxnId="{EA214413-2F69-43B6-8C67-9BA656968D54}">
      <dgm:prSet/>
      <dgm:spPr/>
      <dgm:t>
        <a:bodyPr/>
        <a:lstStyle/>
        <a:p>
          <a:endParaRPr lang="en-US"/>
        </a:p>
      </dgm:t>
    </dgm:pt>
    <dgm:pt modelId="{5B5231ED-36EC-4E9B-A6C6-5512B475F577}" type="sibTrans" cxnId="{EA214413-2F69-43B6-8C67-9BA656968D54}">
      <dgm:prSet/>
      <dgm:spPr/>
      <dgm:t>
        <a:bodyPr/>
        <a:lstStyle/>
        <a:p>
          <a:endParaRPr lang="en-US"/>
        </a:p>
      </dgm:t>
    </dgm:pt>
    <dgm:pt modelId="{BFE2C2F4-ABCB-456C-9E75-73693556207C}">
      <dgm:prSet/>
      <dgm:spPr/>
      <dgm:t>
        <a:bodyPr/>
        <a:lstStyle/>
        <a:p>
          <a:r>
            <a:rPr lang="en-US"/>
            <a:t>Y. R. Tabar et al., "At-Home Sleep Monitoring Using Generic Ear-EEG," </a:t>
          </a:r>
          <a:r>
            <a:rPr lang="en-US" i="1"/>
            <a:t>Frontiers in Neuroscience</a:t>
          </a:r>
          <a:r>
            <a:rPr lang="en-US"/>
            <a:t>, vol. 17, Feb. 2023. </a:t>
          </a:r>
        </a:p>
      </dgm:t>
    </dgm:pt>
    <dgm:pt modelId="{DEE173E6-3676-4A50-AF6B-B4CDA0A6F886}" type="parTrans" cxnId="{07B028B9-467C-4E5E-9F20-4DE69E276F8B}">
      <dgm:prSet/>
      <dgm:spPr/>
      <dgm:t>
        <a:bodyPr/>
        <a:lstStyle/>
        <a:p>
          <a:endParaRPr lang="en-US"/>
        </a:p>
      </dgm:t>
    </dgm:pt>
    <dgm:pt modelId="{79AAE9C4-7A89-4CE2-9178-A2B0716E3C75}" type="sibTrans" cxnId="{07B028B9-467C-4E5E-9F20-4DE69E276F8B}">
      <dgm:prSet/>
      <dgm:spPr/>
      <dgm:t>
        <a:bodyPr/>
        <a:lstStyle/>
        <a:p>
          <a:endParaRPr lang="en-US"/>
        </a:p>
      </dgm:t>
    </dgm:pt>
    <dgm:pt modelId="{40E4A78A-E5D3-4305-A69B-A16F2CD02063}">
      <dgm:prSet/>
      <dgm:spPr/>
      <dgm:t>
        <a:bodyPr/>
        <a:lstStyle/>
        <a:p>
          <a:r>
            <a:rPr lang="en-US"/>
            <a:t>S. L. Kappel et al., "Dry-Contact Electrode Ear-EEG," </a:t>
          </a:r>
          <a:r>
            <a:rPr lang="en-US" i="1"/>
            <a:t>IEEE Transactions on Biomedical Engineering</a:t>
          </a:r>
          <a:r>
            <a:rPr lang="en-US"/>
            <a:t>, vol. 66, no. 1, pp. 150–158, Jan. 2019. </a:t>
          </a:r>
        </a:p>
      </dgm:t>
    </dgm:pt>
    <dgm:pt modelId="{B95ECDD3-87F0-412B-BFD8-896504914076}" type="parTrans" cxnId="{1E9B0F5C-FAA8-4D6D-ADD4-CC6B9DF0D857}">
      <dgm:prSet/>
      <dgm:spPr/>
      <dgm:t>
        <a:bodyPr/>
        <a:lstStyle/>
        <a:p>
          <a:endParaRPr lang="en-US"/>
        </a:p>
      </dgm:t>
    </dgm:pt>
    <dgm:pt modelId="{7D4FEE73-A318-43C9-9C57-B278A802DDEE}" type="sibTrans" cxnId="{1E9B0F5C-FAA8-4D6D-ADD4-CC6B9DF0D857}">
      <dgm:prSet/>
      <dgm:spPr/>
      <dgm:t>
        <a:bodyPr/>
        <a:lstStyle/>
        <a:p>
          <a:endParaRPr lang="en-US"/>
        </a:p>
      </dgm:t>
    </dgm:pt>
    <dgm:pt modelId="{8056DC45-1947-4273-ADA2-D61C3EC1A654}">
      <dgm:prSet/>
      <dgm:spPr/>
      <dgm:t>
        <a:bodyPr/>
        <a:lstStyle/>
        <a:p>
          <a:r>
            <a:rPr lang="en-US"/>
            <a:t>A. Paul et al., "A Versatile In-Ear Biosensing System and Body-Area Network for Unobtrusive Continuous Health Monitoring," </a:t>
          </a:r>
          <a:r>
            <a:rPr lang="en-US" i="1"/>
            <a:t>IEEE Transactions on Biomedical Circuits and Systems</a:t>
          </a:r>
          <a:r>
            <a:rPr lang="en-US"/>
            <a:t>, vol. 17, no. 3, Jun. 2023</a:t>
          </a:r>
        </a:p>
      </dgm:t>
    </dgm:pt>
    <dgm:pt modelId="{7726B107-903A-4E11-B3B0-232CC5B9A8DA}" type="parTrans" cxnId="{21CB7A5E-2FAC-4870-8412-443C6A5FDABC}">
      <dgm:prSet/>
      <dgm:spPr/>
      <dgm:t>
        <a:bodyPr/>
        <a:lstStyle/>
        <a:p>
          <a:endParaRPr lang="en-US"/>
        </a:p>
      </dgm:t>
    </dgm:pt>
    <dgm:pt modelId="{8C5B9243-89A2-4C9E-9AFC-4F3D15CD2F24}" type="sibTrans" cxnId="{21CB7A5E-2FAC-4870-8412-443C6A5FDABC}">
      <dgm:prSet/>
      <dgm:spPr/>
      <dgm:t>
        <a:bodyPr/>
        <a:lstStyle/>
        <a:p>
          <a:endParaRPr lang="en-US"/>
        </a:p>
      </dgm:t>
    </dgm:pt>
    <dgm:pt modelId="{DCDFD6AE-F265-40C8-9E49-2243DCEE85E2}" type="pres">
      <dgm:prSet presAssocID="{E220526C-7623-4686-A108-9E2499AC99CB}" presName="linear" presStyleCnt="0">
        <dgm:presLayoutVars>
          <dgm:animLvl val="lvl"/>
          <dgm:resizeHandles val="exact"/>
        </dgm:presLayoutVars>
      </dgm:prSet>
      <dgm:spPr/>
    </dgm:pt>
    <dgm:pt modelId="{01CEF6F2-00A1-45C8-A965-41517D98B1DE}" type="pres">
      <dgm:prSet presAssocID="{7B7FDBD1-5BEF-4AE7-8A46-88D8C2C9D070}" presName="parentText" presStyleLbl="node1" presStyleIdx="0" presStyleCnt="5">
        <dgm:presLayoutVars>
          <dgm:chMax val="0"/>
          <dgm:bulletEnabled val="1"/>
        </dgm:presLayoutVars>
      </dgm:prSet>
      <dgm:spPr/>
    </dgm:pt>
    <dgm:pt modelId="{3ED58969-8DEA-48D9-84B1-0C5C2EECC080}" type="pres">
      <dgm:prSet presAssocID="{417D9C30-60CF-4B3D-8B37-1BB84ED61615}" presName="spacer" presStyleCnt="0"/>
      <dgm:spPr/>
    </dgm:pt>
    <dgm:pt modelId="{C7E41CFA-B585-409C-B8C4-23E8DAADF3AC}" type="pres">
      <dgm:prSet presAssocID="{28B4DDB7-0E06-4658-802B-0082A0F3BEF3}" presName="parentText" presStyleLbl="node1" presStyleIdx="1" presStyleCnt="5">
        <dgm:presLayoutVars>
          <dgm:chMax val="0"/>
          <dgm:bulletEnabled val="1"/>
        </dgm:presLayoutVars>
      </dgm:prSet>
      <dgm:spPr/>
    </dgm:pt>
    <dgm:pt modelId="{9A1FA9D1-C29B-451B-98D7-B9FFECFB3D44}" type="pres">
      <dgm:prSet presAssocID="{5B5231ED-36EC-4E9B-A6C6-5512B475F577}" presName="spacer" presStyleCnt="0"/>
      <dgm:spPr/>
    </dgm:pt>
    <dgm:pt modelId="{76FA56D6-FAF5-43DF-A417-B9A7811064D8}" type="pres">
      <dgm:prSet presAssocID="{BFE2C2F4-ABCB-456C-9E75-73693556207C}" presName="parentText" presStyleLbl="node1" presStyleIdx="2" presStyleCnt="5">
        <dgm:presLayoutVars>
          <dgm:chMax val="0"/>
          <dgm:bulletEnabled val="1"/>
        </dgm:presLayoutVars>
      </dgm:prSet>
      <dgm:spPr/>
    </dgm:pt>
    <dgm:pt modelId="{E79E4267-3C54-431C-8619-9BC9FF21573A}" type="pres">
      <dgm:prSet presAssocID="{79AAE9C4-7A89-4CE2-9178-A2B0716E3C75}" presName="spacer" presStyleCnt="0"/>
      <dgm:spPr/>
    </dgm:pt>
    <dgm:pt modelId="{456A1B36-9A1E-4FA3-90B7-F59C08813D55}" type="pres">
      <dgm:prSet presAssocID="{40E4A78A-E5D3-4305-A69B-A16F2CD02063}" presName="parentText" presStyleLbl="node1" presStyleIdx="3" presStyleCnt="5">
        <dgm:presLayoutVars>
          <dgm:chMax val="0"/>
          <dgm:bulletEnabled val="1"/>
        </dgm:presLayoutVars>
      </dgm:prSet>
      <dgm:spPr/>
    </dgm:pt>
    <dgm:pt modelId="{B379F758-6CA2-441C-9D95-EEE9C12747E0}" type="pres">
      <dgm:prSet presAssocID="{7D4FEE73-A318-43C9-9C57-B278A802DDEE}" presName="spacer" presStyleCnt="0"/>
      <dgm:spPr/>
    </dgm:pt>
    <dgm:pt modelId="{612D79BC-9836-4A29-B06C-43F12B9D99E1}" type="pres">
      <dgm:prSet presAssocID="{8056DC45-1947-4273-ADA2-D61C3EC1A654}" presName="parentText" presStyleLbl="node1" presStyleIdx="4" presStyleCnt="5">
        <dgm:presLayoutVars>
          <dgm:chMax val="0"/>
          <dgm:bulletEnabled val="1"/>
        </dgm:presLayoutVars>
      </dgm:prSet>
      <dgm:spPr/>
    </dgm:pt>
  </dgm:ptLst>
  <dgm:cxnLst>
    <dgm:cxn modelId="{3133BE08-5625-4A9F-90C1-BB0BC28DD4E9}" type="presOf" srcId="{8056DC45-1947-4273-ADA2-D61C3EC1A654}" destId="{612D79BC-9836-4A29-B06C-43F12B9D99E1}" srcOrd="0" destOrd="0" presId="urn:microsoft.com/office/officeart/2005/8/layout/vList2"/>
    <dgm:cxn modelId="{ABEE9B0C-A79E-442A-9208-8DCE3EE907D3}" srcId="{E220526C-7623-4686-A108-9E2499AC99CB}" destId="{7B7FDBD1-5BEF-4AE7-8A46-88D8C2C9D070}" srcOrd="0" destOrd="0" parTransId="{51221F24-5F0A-4919-8784-A8B5E98F3608}" sibTransId="{417D9C30-60CF-4B3D-8B37-1BB84ED61615}"/>
    <dgm:cxn modelId="{BDBF8E0F-B543-45E7-A77E-FFB79421F3EB}" type="presOf" srcId="{E220526C-7623-4686-A108-9E2499AC99CB}" destId="{DCDFD6AE-F265-40C8-9E49-2243DCEE85E2}" srcOrd="0" destOrd="0" presId="urn:microsoft.com/office/officeart/2005/8/layout/vList2"/>
    <dgm:cxn modelId="{E7654213-9329-472C-9B76-54024075394F}" type="presOf" srcId="{BFE2C2F4-ABCB-456C-9E75-73693556207C}" destId="{76FA56D6-FAF5-43DF-A417-B9A7811064D8}" srcOrd="0" destOrd="0" presId="urn:microsoft.com/office/officeart/2005/8/layout/vList2"/>
    <dgm:cxn modelId="{EA214413-2F69-43B6-8C67-9BA656968D54}" srcId="{E220526C-7623-4686-A108-9E2499AC99CB}" destId="{28B4DDB7-0E06-4658-802B-0082A0F3BEF3}" srcOrd="1" destOrd="0" parTransId="{2D86AD73-0BF6-4AA3-863C-A8B5D46AD0DB}" sibTransId="{5B5231ED-36EC-4E9B-A6C6-5512B475F577}"/>
    <dgm:cxn modelId="{1E9B0F5C-FAA8-4D6D-ADD4-CC6B9DF0D857}" srcId="{E220526C-7623-4686-A108-9E2499AC99CB}" destId="{40E4A78A-E5D3-4305-A69B-A16F2CD02063}" srcOrd="3" destOrd="0" parTransId="{B95ECDD3-87F0-412B-BFD8-896504914076}" sibTransId="{7D4FEE73-A318-43C9-9C57-B278A802DDEE}"/>
    <dgm:cxn modelId="{21CB7A5E-2FAC-4870-8412-443C6A5FDABC}" srcId="{E220526C-7623-4686-A108-9E2499AC99CB}" destId="{8056DC45-1947-4273-ADA2-D61C3EC1A654}" srcOrd="4" destOrd="0" parTransId="{7726B107-903A-4E11-B3B0-232CC5B9A8DA}" sibTransId="{8C5B9243-89A2-4C9E-9AFC-4F3D15CD2F24}"/>
    <dgm:cxn modelId="{8AA17544-C107-4ED4-9EAC-4D5D6E8A12DE}" type="presOf" srcId="{40E4A78A-E5D3-4305-A69B-A16F2CD02063}" destId="{456A1B36-9A1E-4FA3-90B7-F59C08813D55}" srcOrd="0" destOrd="0" presId="urn:microsoft.com/office/officeart/2005/8/layout/vList2"/>
    <dgm:cxn modelId="{BBA14B93-8F05-41DE-B5AA-133C1A307DA0}" type="presOf" srcId="{7B7FDBD1-5BEF-4AE7-8A46-88D8C2C9D070}" destId="{01CEF6F2-00A1-45C8-A965-41517D98B1DE}" srcOrd="0" destOrd="0" presId="urn:microsoft.com/office/officeart/2005/8/layout/vList2"/>
    <dgm:cxn modelId="{C24AC5A2-448E-4BDA-B123-A7C21E7C6BDD}" type="presOf" srcId="{28B4DDB7-0E06-4658-802B-0082A0F3BEF3}" destId="{C7E41CFA-B585-409C-B8C4-23E8DAADF3AC}" srcOrd="0" destOrd="0" presId="urn:microsoft.com/office/officeart/2005/8/layout/vList2"/>
    <dgm:cxn modelId="{07B028B9-467C-4E5E-9F20-4DE69E276F8B}" srcId="{E220526C-7623-4686-A108-9E2499AC99CB}" destId="{BFE2C2F4-ABCB-456C-9E75-73693556207C}" srcOrd="2" destOrd="0" parTransId="{DEE173E6-3676-4A50-AF6B-B4CDA0A6F886}" sibTransId="{79AAE9C4-7A89-4CE2-9178-A2B0716E3C75}"/>
    <dgm:cxn modelId="{F0772B6A-D150-41FE-AC2E-E5F31123A54B}" type="presParOf" srcId="{DCDFD6AE-F265-40C8-9E49-2243DCEE85E2}" destId="{01CEF6F2-00A1-45C8-A965-41517D98B1DE}" srcOrd="0" destOrd="0" presId="urn:microsoft.com/office/officeart/2005/8/layout/vList2"/>
    <dgm:cxn modelId="{F6E36B4C-76A6-4E95-B3DA-B426CCD1190C}" type="presParOf" srcId="{DCDFD6AE-F265-40C8-9E49-2243DCEE85E2}" destId="{3ED58969-8DEA-48D9-84B1-0C5C2EECC080}" srcOrd="1" destOrd="0" presId="urn:microsoft.com/office/officeart/2005/8/layout/vList2"/>
    <dgm:cxn modelId="{0DD30074-8E5F-44C4-975B-DDD746F7BF8D}" type="presParOf" srcId="{DCDFD6AE-F265-40C8-9E49-2243DCEE85E2}" destId="{C7E41CFA-B585-409C-B8C4-23E8DAADF3AC}" srcOrd="2" destOrd="0" presId="urn:microsoft.com/office/officeart/2005/8/layout/vList2"/>
    <dgm:cxn modelId="{4A63027F-FAB5-4186-B9A2-F5B88AF3F36A}" type="presParOf" srcId="{DCDFD6AE-F265-40C8-9E49-2243DCEE85E2}" destId="{9A1FA9D1-C29B-451B-98D7-B9FFECFB3D44}" srcOrd="3" destOrd="0" presId="urn:microsoft.com/office/officeart/2005/8/layout/vList2"/>
    <dgm:cxn modelId="{BE7AC2DA-928C-4E52-B604-4D588C82B019}" type="presParOf" srcId="{DCDFD6AE-F265-40C8-9E49-2243DCEE85E2}" destId="{76FA56D6-FAF5-43DF-A417-B9A7811064D8}" srcOrd="4" destOrd="0" presId="urn:microsoft.com/office/officeart/2005/8/layout/vList2"/>
    <dgm:cxn modelId="{DB429259-D4DB-49F4-B838-21F1F493C6A5}" type="presParOf" srcId="{DCDFD6AE-F265-40C8-9E49-2243DCEE85E2}" destId="{E79E4267-3C54-431C-8619-9BC9FF21573A}" srcOrd="5" destOrd="0" presId="urn:microsoft.com/office/officeart/2005/8/layout/vList2"/>
    <dgm:cxn modelId="{47FCE649-CCF9-4E01-8CFA-5E64EE29F88D}" type="presParOf" srcId="{DCDFD6AE-F265-40C8-9E49-2243DCEE85E2}" destId="{456A1B36-9A1E-4FA3-90B7-F59C08813D55}" srcOrd="6" destOrd="0" presId="urn:microsoft.com/office/officeart/2005/8/layout/vList2"/>
    <dgm:cxn modelId="{BF9034F4-D117-4EC6-8153-00AB94F03240}" type="presParOf" srcId="{DCDFD6AE-F265-40C8-9E49-2243DCEE85E2}" destId="{B379F758-6CA2-441C-9D95-EEE9C12747E0}" srcOrd="7" destOrd="0" presId="urn:microsoft.com/office/officeart/2005/8/layout/vList2"/>
    <dgm:cxn modelId="{7196D6ED-6C1C-4C95-975B-2D75A1782B7C}" type="presParOf" srcId="{DCDFD6AE-F265-40C8-9E49-2243DCEE85E2}" destId="{612D79BC-9836-4A29-B06C-43F12B9D99E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DAA90A-7CED-422E-BA43-07C9F4DEA61E}">
      <dsp:nvSpPr>
        <dsp:cNvPr id="0" name=""/>
        <dsp:cNvSpPr/>
      </dsp:nvSpPr>
      <dsp:spPr>
        <a:xfrm>
          <a:off x="0" y="774469"/>
          <a:ext cx="10945091" cy="14297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113D06-6D92-4E9F-BAD0-28A9D42A11F0}">
      <dsp:nvSpPr>
        <dsp:cNvPr id="0" name=""/>
        <dsp:cNvSpPr/>
      </dsp:nvSpPr>
      <dsp:spPr>
        <a:xfrm>
          <a:off x="432511" y="1096171"/>
          <a:ext cx="786384" cy="7863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10E670-A1E9-40A6-94EC-5B6E95BB62C9}">
      <dsp:nvSpPr>
        <dsp:cNvPr id="0" name=""/>
        <dsp:cNvSpPr/>
      </dsp:nvSpPr>
      <dsp:spPr>
        <a:xfrm>
          <a:off x="1651406" y="774469"/>
          <a:ext cx="9293684" cy="1429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319" tIns="151319" rIns="151319" bIns="151319" numCol="1" spcCol="1270" anchor="ctr" anchorCtr="0">
          <a:noAutofit/>
        </a:bodyPr>
        <a:lstStyle/>
        <a:p>
          <a:pPr marL="0" lvl="0" indent="0" algn="l" defTabSz="889000">
            <a:lnSpc>
              <a:spcPct val="100000"/>
            </a:lnSpc>
            <a:spcBef>
              <a:spcPct val="0"/>
            </a:spcBef>
            <a:spcAft>
              <a:spcPct val="35000"/>
            </a:spcAft>
            <a:buNone/>
          </a:pPr>
          <a:r>
            <a:rPr lang="en-US" sz="2000" b="1" kern="1200"/>
            <a:t>Objective:</a:t>
          </a:r>
          <a:r>
            <a:rPr lang="en-US" sz="2000" kern="1200"/>
            <a:t> To design and implement a multimodal wearable ear-EEG device that combines neural and physiological parameters for accurate, continuous, and non-invasive brain state assessment outside clinical environments.</a:t>
          </a:r>
        </a:p>
      </dsp:txBody>
      <dsp:txXfrm>
        <a:off x="1651406" y="774469"/>
        <a:ext cx="9293684" cy="1429789"/>
      </dsp:txXfrm>
    </dsp:sp>
    <dsp:sp modelId="{D87BEB76-93AE-445E-96FD-9F4E9E692914}">
      <dsp:nvSpPr>
        <dsp:cNvPr id="0" name=""/>
        <dsp:cNvSpPr/>
      </dsp:nvSpPr>
      <dsp:spPr>
        <a:xfrm>
          <a:off x="0" y="2561705"/>
          <a:ext cx="10945091" cy="14297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475D64-5525-4D57-A96C-062DE8CD01C6}">
      <dsp:nvSpPr>
        <dsp:cNvPr id="0" name=""/>
        <dsp:cNvSpPr/>
      </dsp:nvSpPr>
      <dsp:spPr>
        <a:xfrm>
          <a:off x="432511" y="2883408"/>
          <a:ext cx="786384" cy="7863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98FFA9-E4C1-4DB6-807A-67017C934442}">
      <dsp:nvSpPr>
        <dsp:cNvPr id="0" name=""/>
        <dsp:cNvSpPr/>
      </dsp:nvSpPr>
      <dsp:spPr>
        <a:xfrm>
          <a:off x="1651406" y="2561705"/>
          <a:ext cx="9293684" cy="1429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319" tIns="151319" rIns="151319" bIns="151319" numCol="1" spcCol="1270" anchor="ctr" anchorCtr="0">
          <a:noAutofit/>
        </a:bodyPr>
        <a:lstStyle/>
        <a:p>
          <a:pPr marL="0" lvl="0" indent="0" algn="l" defTabSz="889000">
            <a:lnSpc>
              <a:spcPct val="100000"/>
            </a:lnSpc>
            <a:spcBef>
              <a:spcPct val="0"/>
            </a:spcBef>
            <a:spcAft>
              <a:spcPct val="35000"/>
            </a:spcAft>
            <a:buNone/>
          </a:pPr>
          <a:r>
            <a:rPr lang="en-US" sz="2000" b="1" kern="1200"/>
            <a:t>Scope:</a:t>
          </a:r>
          <a:r>
            <a:rPr lang="en-US" sz="2000" kern="1200"/>
            <a:t> The system targets drowsiness detection, sleep monitoring, and cognitive fatigue assessment using Arduino-based embedded hardware with Bluetooth wireless connectivity and mobile display.</a:t>
          </a:r>
        </a:p>
      </dsp:txBody>
      <dsp:txXfrm>
        <a:off x="1651406" y="2561705"/>
        <a:ext cx="9293684" cy="14297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4B62BA-871D-4095-A65E-F35A228F6F71}">
      <dsp:nvSpPr>
        <dsp:cNvPr id="0" name=""/>
        <dsp:cNvSpPr/>
      </dsp:nvSpPr>
      <dsp:spPr>
        <a:xfrm>
          <a:off x="940036" y="75306"/>
          <a:ext cx="1003081" cy="10030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B2E7DF1-3084-4E3E-9514-E3854D1BC15B}">
      <dsp:nvSpPr>
        <dsp:cNvPr id="0" name=""/>
        <dsp:cNvSpPr/>
      </dsp:nvSpPr>
      <dsp:spPr>
        <a:xfrm>
          <a:off x="8602" y="1272268"/>
          <a:ext cx="2865948" cy="429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IN" sz="1700" b="1" kern="1200"/>
            <a:t>Background and Motivation</a:t>
          </a:r>
          <a:endParaRPr lang="en-US" sz="1700" b="1" kern="1200">
            <a:latin typeface="Tahoma" panose="020B0604030504040204" pitchFamily="34" charset="0"/>
            <a:ea typeface="Tahoma" panose="020B0604030504040204" pitchFamily="34" charset="0"/>
            <a:cs typeface="Tahoma" panose="020B0604030504040204" pitchFamily="34" charset="0"/>
          </a:endParaRPr>
        </a:p>
      </dsp:txBody>
      <dsp:txXfrm>
        <a:off x="8602" y="1272268"/>
        <a:ext cx="2865948" cy="429892"/>
      </dsp:txXfrm>
    </dsp:sp>
    <dsp:sp modelId="{047FAF53-6256-478C-AF0E-D2686BE1D5BA}">
      <dsp:nvSpPr>
        <dsp:cNvPr id="0" name=""/>
        <dsp:cNvSpPr/>
      </dsp:nvSpPr>
      <dsp:spPr>
        <a:xfrm>
          <a:off x="8602" y="1792336"/>
          <a:ext cx="2865948" cy="279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Font typeface="Arial" panose="020B0604020202020204" pitchFamily="34" charset="0"/>
            <a:buNone/>
          </a:pPr>
          <a:r>
            <a:rPr lang="en-US" sz="1300" b="0" kern="1200" dirty="0"/>
            <a:t>The brain produces continuous electrical signals representing cognitive states (attention, sleep, stress).</a:t>
          </a:r>
          <a:endParaRPr lang="en-US" sz="1300" b="0" kern="1200" dirty="0">
            <a:latin typeface="Tahoma" panose="020B0604030504040204" pitchFamily="34" charset="0"/>
            <a:ea typeface="Tahoma" panose="020B0604030504040204" pitchFamily="34" charset="0"/>
            <a:cs typeface="Tahoma" panose="020B0604030504040204" pitchFamily="34" charset="0"/>
          </a:endParaRPr>
        </a:p>
        <a:p>
          <a:pPr marL="0" lvl="0" indent="0" algn="ctr" defTabSz="577850">
            <a:lnSpc>
              <a:spcPct val="100000"/>
            </a:lnSpc>
            <a:spcBef>
              <a:spcPct val="0"/>
            </a:spcBef>
            <a:spcAft>
              <a:spcPct val="35000"/>
            </a:spcAft>
            <a:buFont typeface="Arial" panose="020B0604020202020204" pitchFamily="34" charset="0"/>
            <a:buNone/>
          </a:pPr>
          <a:r>
            <a:rPr lang="en-US" sz="1300" b="0" kern="1200" dirty="0"/>
            <a:t>Electroencephalography (EEG) is used to record these signals.</a:t>
          </a:r>
          <a:endParaRPr lang="en-US" sz="1300" b="0" kern="1200" dirty="0">
            <a:latin typeface="Tahoma" panose="020B0604030504040204" pitchFamily="34" charset="0"/>
            <a:ea typeface="Tahoma" panose="020B0604030504040204" pitchFamily="34" charset="0"/>
            <a:cs typeface="Tahoma" panose="020B0604030504040204" pitchFamily="34" charset="0"/>
          </a:endParaRPr>
        </a:p>
        <a:p>
          <a:pPr marL="0" lvl="0" indent="0" algn="ctr" defTabSz="577850">
            <a:lnSpc>
              <a:spcPct val="100000"/>
            </a:lnSpc>
            <a:spcBef>
              <a:spcPct val="0"/>
            </a:spcBef>
            <a:spcAft>
              <a:spcPct val="35000"/>
            </a:spcAft>
            <a:buFont typeface="Arial" panose="020B0604020202020204" pitchFamily="34" charset="0"/>
            <a:buNone/>
          </a:pPr>
          <a:r>
            <a:rPr lang="en-US" sz="1300" b="0" kern="1200" dirty="0"/>
            <a:t>Traditional scalp EEG requires clinical setup and trained personnel.</a:t>
          </a:r>
        </a:p>
        <a:p>
          <a:pPr marL="0" lvl="0" indent="0" algn="ctr" defTabSz="577850">
            <a:lnSpc>
              <a:spcPct val="100000"/>
            </a:lnSpc>
            <a:spcBef>
              <a:spcPct val="0"/>
            </a:spcBef>
            <a:spcAft>
              <a:spcPct val="35000"/>
            </a:spcAft>
            <a:buFont typeface="Arial" panose="020B0604020202020204" pitchFamily="34" charset="0"/>
            <a:buNone/>
          </a:pPr>
          <a:r>
            <a:rPr lang="en-US" sz="1300" b="0" kern="1200" dirty="0"/>
            <a:t>It is not suitable for daily or ambulatory use.</a:t>
          </a:r>
        </a:p>
        <a:p>
          <a:pPr marL="0" lvl="0" indent="0" algn="ctr" defTabSz="577850">
            <a:lnSpc>
              <a:spcPct val="100000"/>
            </a:lnSpc>
            <a:spcBef>
              <a:spcPct val="0"/>
            </a:spcBef>
            <a:spcAft>
              <a:spcPct val="35000"/>
            </a:spcAft>
            <a:buFont typeface="Arial" panose="020B0604020202020204" pitchFamily="34" charset="0"/>
            <a:buNone/>
          </a:pPr>
          <a:r>
            <a:rPr lang="en-US" sz="1300" b="0" kern="1200" dirty="0"/>
            <a:t>In-ear EEG uses ear canal electrodes, offering stable, real-world brain monitoring.</a:t>
          </a:r>
        </a:p>
      </dsp:txBody>
      <dsp:txXfrm>
        <a:off x="8602" y="1792336"/>
        <a:ext cx="2865948" cy="2791798"/>
      </dsp:txXfrm>
    </dsp:sp>
    <dsp:sp modelId="{487D6EC2-593A-480A-979E-2B92647118E3}">
      <dsp:nvSpPr>
        <dsp:cNvPr id="0" name=""/>
        <dsp:cNvSpPr/>
      </dsp:nvSpPr>
      <dsp:spPr>
        <a:xfrm>
          <a:off x="4307525" y="75306"/>
          <a:ext cx="1003081" cy="10030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EB5E41E-E658-48C2-A24B-046CD160CF4C}">
      <dsp:nvSpPr>
        <dsp:cNvPr id="0" name=""/>
        <dsp:cNvSpPr/>
      </dsp:nvSpPr>
      <dsp:spPr>
        <a:xfrm>
          <a:off x="3376092" y="1272268"/>
          <a:ext cx="2865948" cy="429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IN" sz="1700" b="1" kern="1200"/>
            <a:t>Problem Statement</a:t>
          </a:r>
          <a:endParaRPr lang="en-US" sz="1700" b="1" kern="1200">
            <a:latin typeface="Tahoma" panose="020B0604030504040204" pitchFamily="34" charset="0"/>
            <a:ea typeface="Tahoma" panose="020B0604030504040204" pitchFamily="34" charset="0"/>
            <a:cs typeface="Tahoma" panose="020B0604030504040204" pitchFamily="34" charset="0"/>
          </a:endParaRPr>
        </a:p>
      </dsp:txBody>
      <dsp:txXfrm>
        <a:off x="3376092" y="1272268"/>
        <a:ext cx="2865948" cy="429892"/>
      </dsp:txXfrm>
    </dsp:sp>
    <dsp:sp modelId="{2AB6AA48-9CF5-41A6-8829-E6A7F29803C3}">
      <dsp:nvSpPr>
        <dsp:cNvPr id="0" name=""/>
        <dsp:cNvSpPr/>
      </dsp:nvSpPr>
      <dsp:spPr>
        <a:xfrm>
          <a:off x="3376092" y="1792336"/>
          <a:ext cx="2865948" cy="279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kern="1200"/>
            <a:t>Existing ear-EEG systems monitor only EEG signals (single parameter).</a:t>
          </a:r>
          <a:endParaRPr lang="en-US" sz="1300" b="0" kern="1200">
            <a:latin typeface="Tahoma" panose="020B0604030504040204" pitchFamily="34" charset="0"/>
            <a:ea typeface="Tahoma" panose="020B0604030504040204" pitchFamily="34" charset="0"/>
            <a:cs typeface="Tahoma" panose="020B0604030504040204" pitchFamily="34" charset="0"/>
          </a:endParaRPr>
        </a:p>
        <a:p>
          <a:pPr marL="0" lvl="0" indent="0" algn="ctr" defTabSz="577850">
            <a:lnSpc>
              <a:spcPct val="100000"/>
            </a:lnSpc>
            <a:spcBef>
              <a:spcPct val="0"/>
            </a:spcBef>
            <a:spcAft>
              <a:spcPct val="35000"/>
            </a:spcAft>
            <a:buNone/>
          </a:pPr>
          <a:r>
            <a:rPr lang="en-US" sz="1300" b="0" kern="1200" dirty="0"/>
            <a:t>They lack integration with other physiological signals (SpO₂, heart rate, temperature).</a:t>
          </a:r>
        </a:p>
        <a:p>
          <a:pPr marL="0" lvl="0" indent="0" algn="ctr" defTabSz="577850">
            <a:lnSpc>
              <a:spcPct val="100000"/>
            </a:lnSpc>
            <a:spcBef>
              <a:spcPct val="0"/>
            </a:spcBef>
            <a:spcAft>
              <a:spcPct val="35000"/>
            </a:spcAft>
            <a:buNone/>
          </a:pPr>
          <a:r>
            <a:rPr lang="en-US" sz="1300" b="0" kern="1200"/>
            <a:t>Systems are expensive and laboratory-grade.</a:t>
          </a:r>
        </a:p>
        <a:p>
          <a:pPr marL="0" lvl="0" indent="0" algn="ctr" defTabSz="577850">
            <a:lnSpc>
              <a:spcPct val="100000"/>
            </a:lnSpc>
            <a:spcBef>
              <a:spcPct val="0"/>
            </a:spcBef>
            <a:spcAft>
              <a:spcPct val="35000"/>
            </a:spcAft>
            <a:buNone/>
          </a:pPr>
          <a:r>
            <a:rPr lang="en-US" sz="1300" b="0" kern="1200"/>
            <a:t>Require wired amplifiers, limiting portability.</a:t>
          </a:r>
        </a:p>
        <a:p>
          <a:pPr marL="0" lvl="0" indent="0" algn="ctr" defTabSz="577850">
            <a:lnSpc>
              <a:spcPct val="100000"/>
            </a:lnSpc>
            <a:spcBef>
              <a:spcPct val="0"/>
            </a:spcBef>
            <a:spcAft>
              <a:spcPct val="35000"/>
            </a:spcAft>
            <a:buNone/>
          </a:pPr>
          <a:r>
            <a:rPr lang="en-US" sz="1300" b="0" kern="1200"/>
            <a:t>Single-parameter monitoring reduces accuracy and reliability of brain state classification.</a:t>
          </a:r>
        </a:p>
      </dsp:txBody>
      <dsp:txXfrm>
        <a:off x="3376092" y="1792336"/>
        <a:ext cx="2865948" cy="2791798"/>
      </dsp:txXfrm>
    </dsp:sp>
    <dsp:sp modelId="{1BC32F8D-DA95-4958-87E2-E6F49648F748}">
      <dsp:nvSpPr>
        <dsp:cNvPr id="0" name=""/>
        <dsp:cNvSpPr/>
      </dsp:nvSpPr>
      <dsp:spPr>
        <a:xfrm>
          <a:off x="7675014" y="75306"/>
          <a:ext cx="1003081" cy="10030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FCCB490-5FC2-40BC-8EA7-8D23176005F3}">
      <dsp:nvSpPr>
        <dsp:cNvPr id="0" name=""/>
        <dsp:cNvSpPr/>
      </dsp:nvSpPr>
      <dsp:spPr>
        <a:xfrm>
          <a:off x="6743581" y="1272268"/>
          <a:ext cx="2865948" cy="429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IN" sz="1700" b="1" kern="1200"/>
            <a:t>Research Question</a:t>
          </a:r>
          <a:endParaRPr lang="en-US" sz="1700" b="1" kern="1200">
            <a:latin typeface="Tahoma" panose="020B0604030504040204" pitchFamily="34" charset="0"/>
            <a:ea typeface="Tahoma" panose="020B0604030504040204" pitchFamily="34" charset="0"/>
            <a:cs typeface="Tahoma" panose="020B0604030504040204" pitchFamily="34" charset="0"/>
          </a:endParaRPr>
        </a:p>
      </dsp:txBody>
      <dsp:txXfrm>
        <a:off x="6743581" y="1272268"/>
        <a:ext cx="2865948" cy="429892"/>
      </dsp:txXfrm>
    </dsp:sp>
    <dsp:sp modelId="{A58B1A5F-DD51-42DB-884B-505E133862BB}">
      <dsp:nvSpPr>
        <dsp:cNvPr id="0" name=""/>
        <dsp:cNvSpPr/>
      </dsp:nvSpPr>
      <dsp:spPr>
        <a:xfrm>
          <a:off x="6743581" y="1792336"/>
          <a:ext cx="2865948" cy="279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kern="1200"/>
            <a:t>Can a low-cost, multimodal wearable ear-EEG system integrating SpO2, heart rate, and ear canal temperature provide reliable real-time brain activity monitoring suitable for ambulatory use?</a:t>
          </a:r>
          <a:endParaRPr lang="en-US" sz="1300" b="0" kern="1200">
            <a:latin typeface="Tahoma" panose="020B0604030504040204" pitchFamily="34" charset="0"/>
            <a:ea typeface="Tahoma" panose="020B0604030504040204" pitchFamily="34" charset="0"/>
            <a:cs typeface="Tahoma" panose="020B0604030504040204" pitchFamily="34" charset="0"/>
          </a:endParaRPr>
        </a:p>
      </dsp:txBody>
      <dsp:txXfrm>
        <a:off x="6743581" y="1792336"/>
        <a:ext cx="2865948" cy="27917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CEF6F2-00A1-45C8-A965-41517D98B1DE}">
      <dsp:nvSpPr>
        <dsp:cNvPr id="0" name=""/>
        <dsp:cNvSpPr/>
      </dsp:nvSpPr>
      <dsp:spPr>
        <a:xfrm>
          <a:off x="0" y="412562"/>
          <a:ext cx="6628804" cy="796331"/>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J. Y. Juez et al., "Ear-EEG Devices for the Assessment of Brain Activity: A Review," </a:t>
          </a:r>
          <a:r>
            <a:rPr lang="en-US" sz="1500" i="1" kern="1200"/>
            <a:t>IEEE Sensors Journal</a:t>
          </a:r>
          <a:r>
            <a:rPr lang="en-US" sz="1500" kern="1200"/>
            <a:t>, vol. 24, no. 20, pp. 31606–31623, Oct. 2024. </a:t>
          </a:r>
        </a:p>
      </dsp:txBody>
      <dsp:txXfrm>
        <a:off x="38874" y="451436"/>
        <a:ext cx="6551056" cy="718583"/>
      </dsp:txXfrm>
    </dsp:sp>
    <dsp:sp modelId="{C7E41CFA-B585-409C-B8C4-23E8DAADF3AC}">
      <dsp:nvSpPr>
        <dsp:cNvPr id="0" name=""/>
        <dsp:cNvSpPr/>
      </dsp:nvSpPr>
      <dsp:spPr>
        <a:xfrm>
          <a:off x="0" y="1252093"/>
          <a:ext cx="6628804" cy="796331"/>
        </a:xfrm>
        <a:prstGeom prst="roundRect">
          <a:avLst/>
        </a:prstGeom>
        <a:gradFill rotWithShape="0">
          <a:gsLst>
            <a:gs pos="0">
              <a:schemeClr val="accent2">
                <a:hueOff val="-741071"/>
                <a:satOff val="3550"/>
                <a:lumOff val="3284"/>
                <a:alphaOff val="0"/>
                <a:tint val="96000"/>
                <a:lumMod val="100000"/>
              </a:schemeClr>
            </a:gs>
            <a:gs pos="78000">
              <a:schemeClr val="accent2">
                <a:hueOff val="-741071"/>
                <a:satOff val="3550"/>
                <a:lumOff val="328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H. Moumane et al., "Signal Quality Evaluation of an In-Ear EEG Device in Comparison to a Conventional Cap System," </a:t>
          </a:r>
          <a:r>
            <a:rPr lang="en-US" sz="1500" i="1" kern="1200"/>
            <a:t>Frontiers in Neuroscience</a:t>
          </a:r>
          <a:r>
            <a:rPr lang="en-US" sz="1500" kern="1200"/>
            <a:t>, vol. 18, Sep. 2024. </a:t>
          </a:r>
        </a:p>
      </dsp:txBody>
      <dsp:txXfrm>
        <a:off x="38874" y="1290967"/>
        <a:ext cx="6551056" cy="718583"/>
      </dsp:txXfrm>
    </dsp:sp>
    <dsp:sp modelId="{76FA56D6-FAF5-43DF-A417-B9A7811064D8}">
      <dsp:nvSpPr>
        <dsp:cNvPr id="0" name=""/>
        <dsp:cNvSpPr/>
      </dsp:nvSpPr>
      <dsp:spPr>
        <a:xfrm>
          <a:off x="0" y="2091624"/>
          <a:ext cx="6628804" cy="796331"/>
        </a:xfrm>
        <a:prstGeom prst="roundRect">
          <a:avLst/>
        </a:prstGeom>
        <a:gradFill rotWithShape="0">
          <a:gsLst>
            <a:gs pos="0">
              <a:schemeClr val="accent2">
                <a:hueOff val="-1482143"/>
                <a:satOff val="7100"/>
                <a:lumOff val="6569"/>
                <a:alphaOff val="0"/>
                <a:tint val="96000"/>
                <a:lumMod val="100000"/>
              </a:schemeClr>
            </a:gs>
            <a:gs pos="78000">
              <a:schemeClr val="accent2">
                <a:hueOff val="-1482143"/>
                <a:satOff val="7100"/>
                <a:lumOff val="6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Y. R. Tabar et al., "At-Home Sleep Monitoring Using Generic Ear-EEG," </a:t>
          </a:r>
          <a:r>
            <a:rPr lang="en-US" sz="1500" i="1" kern="1200"/>
            <a:t>Frontiers in Neuroscience</a:t>
          </a:r>
          <a:r>
            <a:rPr lang="en-US" sz="1500" kern="1200"/>
            <a:t>, vol. 17, Feb. 2023. </a:t>
          </a:r>
        </a:p>
      </dsp:txBody>
      <dsp:txXfrm>
        <a:off x="38874" y="2130498"/>
        <a:ext cx="6551056" cy="718583"/>
      </dsp:txXfrm>
    </dsp:sp>
    <dsp:sp modelId="{456A1B36-9A1E-4FA3-90B7-F59C08813D55}">
      <dsp:nvSpPr>
        <dsp:cNvPr id="0" name=""/>
        <dsp:cNvSpPr/>
      </dsp:nvSpPr>
      <dsp:spPr>
        <a:xfrm>
          <a:off x="0" y="2931156"/>
          <a:ext cx="6628804" cy="796331"/>
        </a:xfrm>
        <a:prstGeom prst="roundRect">
          <a:avLst/>
        </a:prstGeom>
        <a:gradFill rotWithShape="0">
          <a:gsLst>
            <a:gs pos="0">
              <a:schemeClr val="accent2">
                <a:hueOff val="-2223214"/>
                <a:satOff val="10650"/>
                <a:lumOff val="9853"/>
                <a:alphaOff val="0"/>
                <a:tint val="96000"/>
                <a:lumMod val="100000"/>
              </a:schemeClr>
            </a:gs>
            <a:gs pos="78000">
              <a:schemeClr val="accent2">
                <a:hueOff val="-2223214"/>
                <a:satOff val="10650"/>
                <a:lumOff val="9853"/>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S. L. Kappel et al., "Dry-Contact Electrode Ear-EEG," </a:t>
          </a:r>
          <a:r>
            <a:rPr lang="en-US" sz="1500" i="1" kern="1200"/>
            <a:t>IEEE Transactions on Biomedical Engineering</a:t>
          </a:r>
          <a:r>
            <a:rPr lang="en-US" sz="1500" kern="1200"/>
            <a:t>, vol. 66, no. 1, pp. 150–158, Jan. 2019. </a:t>
          </a:r>
        </a:p>
      </dsp:txBody>
      <dsp:txXfrm>
        <a:off x="38874" y="2970030"/>
        <a:ext cx="6551056" cy="718583"/>
      </dsp:txXfrm>
    </dsp:sp>
    <dsp:sp modelId="{612D79BC-9836-4A29-B06C-43F12B9D99E1}">
      <dsp:nvSpPr>
        <dsp:cNvPr id="0" name=""/>
        <dsp:cNvSpPr/>
      </dsp:nvSpPr>
      <dsp:spPr>
        <a:xfrm>
          <a:off x="0" y="3770687"/>
          <a:ext cx="6628804" cy="796331"/>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A. Paul et al., "A Versatile In-Ear Biosensing System and Body-Area Network for Unobtrusive Continuous Health Monitoring," </a:t>
          </a:r>
          <a:r>
            <a:rPr lang="en-US" sz="1500" i="1" kern="1200"/>
            <a:t>IEEE Transactions on Biomedical Circuits and Systems</a:t>
          </a:r>
          <a:r>
            <a:rPr lang="en-US" sz="1500" kern="1200"/>
            <a:t>, vol. 17, no. 3, Jun. 2023</a:t>
          </a:r>
        </a:p>
      </dsp:txBody>
      <dsp:txXfrm>
        <a:off x="38874" y="3809561"/>
        <a:ext cx="6551056" cy="71858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3/20/2026</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3/20/2026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19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2006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09687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4277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95514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22743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03567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61763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3271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59882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27184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04972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00774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359189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5358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1094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3/20/2026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36148210"/>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a:xfrm>
            <a:off x="429491" y="0"/>
            <a:ext cx="11333018" cy="2387600"/>
          </a:xfrm>
        </p:spPr>
        <p:txBody>
          <a:bodyPr>
            <a:normAutofit fontScale="90000"/>
          </a:bodyPr>
          <a:lstStyle/>
          <a:p>
            <a:pPr algn="just"/>
            <a:r>
              <a:rPr lang="en-US" sz="4000" b="1" dirty="0">
                <a:solidFill>
                  <a:schemeClr val="tx1"/>
                </a:solidFill>
              </a:rPr>
              <a:t>DESIGN AND IMPLEMENTATION OF A WEARABLE EAR-EEG SYSTEM WITH SpO2 AND TEMPERATURE MONITORING FOR BRAIN ACTIVITY ASSESSMENT</a:t>
            </a:r>
            <a:endParaRPr lang="en-US" sz="4000" b="1" dirty="0">
              <a:solidFill>
                <a:schemeClr val="tx1"/>
              </a:solidFill>
              <a:latin typeface="Rockwell" panose="02060603020205020403" pitchFamily="18" charset="0"/>
            </a:endParaRPr>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a:xfrm>
            <a:off x="727362" y="3072173"/>
            <a:ext cx="9886085" cy="713653"/>
          </a:xfrm>
        </p:spPr>
        <p:txBody>
          <a:bodyPr>
            <a:normAutofit/>
          </a:bodyPr>
          <a:lstStyle/>
          <a:p>
            <a:pPr algn="ctr"/>
            <a:r>
              <a:rPr lang="en-IN" sz="2800" b="1" dirty="0">
                <a:solidFill>
                  <a:schemeClr val="tx1"/>
                </a:solidFill>
              </a:rPr>
              <a:t>    Student Names:</a:t>
            </a:r>
            <a:r>
              <a:rPr lang="en-IN" sz="2800" dirty="0">
                <a:solidFill>
                  <a:schemeClr val="tx1"/>
                </a:solidFill>
              </a:rPr>
              <a:t> Parasuraman M| Sudharsan S | Tharun s</a:t>
            </a:r>
            <a:endParaRPr lang="en-US"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28126FFC-B3D3-502E-D261-151AF3B8982F}"/>
              </a:ext>
            </a:extLst>
          </p:cNvPr>
          <p:cNvSpPr txBox="1"/>
          <p:nvPr/>
        </p:nvSpPr>
        <p:spPr>
          <a:xfrm>
            <a:off x="1163781" y="4741660"/>
            <a:ext cx="10861964" cy="523220"/>
          </a:xfrm>
          <a:prstGeom prst="rect">
            <a:avLst/>
          </a:prstGeom>
          <a:noFill/>
        </p:spPr>
        <p:txBody>
          <a:bodyPr wrap="square" rtlCol="0">
            <a:spAutoFit/>
          </a:bodyPr>
          <a:lstStyle/>
          <a:p>
            <a:r>
              <a:rPr lang="en-US" sz="2800" b="1" dirty="0"/>
              <a:t> Department:</a:t>
            </a:r>
            <a:r>
              <a:rPr lang="en-US" sz="2800" dirty="0"/>
              <a:t> Electronics and Communication Engineering</a:t>
            </a:r>
            <a:endParaRPr lang="en-IN" sz="2800" dirty="0"/>
          </a:p>
        </p:txBody>
      </p:sp>
      <p:sp>
        <p:nvSpPr>
          <p:cNvPr id="5" name="TextBox 4">
            <a:extLst>
              <a:ext uri="{FF2B5EF4-FFF2-40B4-BE49-F238E27FC236}">
                <a16:creationId xmlns:a16="http://schemas.microsoft.com/office/drawing/2014/main" id="{CF87C86C-17BE-0658-7872-6FC9280F9B67}"/>
              </a:ext>
            </a:extLst>
          </p:cNvPr>
          <p:cNvSpPr txBox="1"/>
          <p:nvPr/>
        </p:nvSpPr>
        <p:spPr>
          <a:xfrm>
            <a:off x="1163781" y="3871328"/>
            <a:ext cx="9027103" cy="523220"/>
          </a:xfrm>
          <a:prstGeom prst="rect">
            <a:avLst/>
          </a:prstGeom>
          <a:noFill/>
        </p:spPr>
        <p:txBody>
          <a:bodyPr wrap="square" rtlCol="0">
            <a:spAutoFit/>
          </a:bodyPr>
          <a:lstStyle/>
          <a:p>
            <a:r>
              <a:rPr lang="en-IN" sz="2800" b="1" dirty="0"/>
              <a:t> Guide Name:</a:t>
            </a:r>
            <a:r>
              <a:rPr lang="en-IN" sz="2800" dirty="0"/>
              <a:t> Dr. K.KARTHIKA</a:t>
            </a:r>
          </a:p>
        </p:txBody>
      </p:sp>
      <p:sp>
        <p:nvSpPr>
          <p:cNvPr id="6" name="TextBox 5">
            <a:extLst>
              <a:ext uri="{FF2B5EF4-FFF2-40B4-BE49-F238E27FC236}">
                <a16:creationId xmlns:a16="http://schemas.microsoft.com/office/drawing/2014/main" id="{0B1393C3-9CA2-E2F1-351F-1F1FD17A7E4F}"/>
              </a:ext>
            </a:extLst>
          </p:cNvPr>
          <p:cNvSpPr txBox="1"/>
          <p:nvPr/>
        </p:nvSpPr>
        <p:spPr>
          <a:xfrm>
            <a:off x="1163781" y="5506762"/>
            <a:ext cx="9013249" cy="523220"/>
          </a:xfrm>
          <a:prstGeom prst="rect">
            <a:avLst/>
          </a:prstGeom>
          <a:noFill/>
        </p:spPr>
        <p:txBody>
          <a:bodyPr wrap="square" rtlCol="0">
            <a:spAutoFit/>
          </a:bodyPr>
          <a:lstStyle/>
          <a:p>
            <a:r>
              <a:rPr lang="en-IN" sz="2800" b="1" dirty="0"/>
              <a:t> Date:</a:t>
            </a:r>
            <a:r>
              <a:rPr lang="en-IN" sz="2800" dirty="0"/>
              <a:t> 23 March 2026</a:t>
            </a: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5536734" y="609600"/>
            <a:ext cx="3737268" cy="1320800"/>
          </a:xfrm>
        </p:spPr>
        <p:txBody>
          <a:bodyPr>
            <a:normAutofit/>
          </a:bodyPr>
          <a:lstStyle/>
          <a:p>
            <a:r>
              <a:rPr lang="en-IN" b="1"/>
              <a:t>ABSTRACT</a:t>
            </a:r>
            <a:endParaRPr lang="en-US" b="1">
              <a:latin typeface="Rockwell" panose="02060603020205020403" pitchFamily="18" charset="0"/>
            </a:endParaRPr>
          </a:p>
        </p:txBody>
      </p:sp>
      <p:sp>
        <p:nvSpPr>
          <p:cNvPr id="5" name="Content Placeholder 4">
            <a:extLst>
              <a:ext uri="{FF2B5EF4-FFF2-40B4-BE49-F238E27FC236}">
                <a16:creationId xmlns:a16="http://schemas.microsoft.com/office/drawing/2014/main" id="{CB0400D4-523A-2CEC-B967-40CB94B30DE1}"/>
              </a:ext>
            </a:extLst>
          </p:cNvPr>
          <p:cNvSpPr>
            <a:spLocks noGrp="1"/>
          </p:cNvSpPr>
          <p:nvPr>
            <p:ph idx="1"/>
          </p:nvPr>
        </p:nvSpPr>
        <p:spPr>
          <a:xfrm>
            <a:off x="5209563" y="2160589"/>
            <a:ext cx="4064439" cy="3880773"/>
          </a:xfrm>
        </p:spPr>
        <p:txBody>
          <a:bodyPr>
            <a:normAutofit/>
          </a:bodyPr>
          <a:lstStyle/>
          <a:p>
            <a:r>
              <a:rPr lang="en-US" b="1"/>
              <a:t>Brief Overview:</a:t>
            </a:r>
            <a:r>
              <a:rPr lang="en-US"/>
              <a:t> This project proposes a low-cost wearable in-ear EEG system integrated with SpO2, heart rate, and ear canal temperature sensors for real-time brain activity monitoring. Dry-contact electrodes placed inside the ear canal acquire EEG signals, which are processed using an embedded microcontroller to classify brain states such as Awake, Drowsy, and Sleep onset in ambulatory settings.</a:t>
            </a:r>
          </a:p>
          <a:p>
            <a:endParaRPr lang="en-IN" dirty="0"/>
          </a:p>
        </p:txBody>
      </p:sp>
      <p:pic>
        <p:nvPicPr>
          <p:cNvPr id="16" name="Picture 15" descr="A picture of an electromagnetic radiation">
            <a:extLst>
              <a:ext uri="{FF2B5EF4-FFF2-40B4-BE49-F238E27FC236}">
                <a16:creationId xmlns:a16="http://schemas.microsoft.com/office/drawing/2014/main" id="{414E5E85-5EA7-3577-5B80-F795E832F63B}"/>
              </a:ext>
            </a:extLst>
          </p:cNvPr>
          <p:cNvPicPr>
            <a:picLocks noChangeAspect="1"/>
          </p:cNvPicPr>
          <p:nvPr/>
        </p:nvPicPr>
        <p:blipFill>
          <a:blip r:embed="rId2"/>
          <a:srcRect l="24203" r="23092"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7" name="Isosceles Triangle 16">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25368974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921328" y="175172"/>
            <a:ext cx="9905998" cy="1478570"/>
          </a:xfrm>
        </p:spPr>
        <p:txBody>
          <a:bodyPr>
            <a:normAutofit/>
          </a:bodyPr>
          <a:lstStyle/>
          <a:p>
            <a:pPr algn="ctr"/>
            <a:r>
              <a:rPr lang="en-US" sz="4000" b="1" dirty="0">
                <a:latin typeface="Rockwell" panose="02060603020205020403" pitchFamily="18" charset="0"/>
              </a:rPr>
              <a:t>OBJECTIVE &amp;SCOPE</a:t>
            </a:r>
          </a:p>
        </p:txBody>
      </p:sp>
      <p:graphicFrame>
        <p:nvGraphicFramePr>
          <p:cNvPr id="6" name="Content Placeholder 2">
            <a:extLst>
              <a:ext uri="{FF2B5EF4-FFF2-40B4-BE49-F238E27FC236}">
                <a16:creationId xmlns:a16="http://schemas.microsoft.com/office/drawing/2014/main" id="{A5BC9E87-0E72-F1CB-35D5-0536E86EF49C}"/>
              </a:ext>
            </a:extLst>
          </p:cNvPr>
          <p:cNvGraphicFramePr>
            <a:graphicFrameLocks noGrp="1"/>
          </p:cNvGraphicFramePr>
          <p:nvPr>
            <p:ph idx="1"/>
          </p:nvPr>
        </p:nvGraphicFramePr>
        <p:xfrm>
          <a:off x="595745" y="1759527"/>
          <a:ext cx="10945091" cy="47659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217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286933" y="609600"/>
            <a:ext cx="10197494" cy="1099457"/>
          </a:xfrm>
        </p:spPr>
        <p:txBody>
          <a:bodyPr>
            <a:normAutofit/>
          </a:bodyPr>
          <a:lstStyle/>
          <a:p>
            <a:r>
              <a:rPr lang="en-IN" b="1" dirty="0"/>
              <a:t>INTRODUCTION</a:t>
            </a:r>
            <a:endParaRPr lang="en-US" b="1" dirty="0">
              <a:latin typeface="Rockwell" panose="02060603020205020403" pitchFamily="18" charset="0"/>
            </a:endParaRPr>
          </a:p>
        </p:txBody>
      </p:sp>
      <p:sp>
        <p:nvSpPr>
          <p:cNvPr id="20" name="Isosceles Triangle 19">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Isosceles Triangle 21">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4" name="Content Placeholder 3">
            <a:extLst>
              <a:ext uri="{FF2B5EF4-FFF2-40B4-BE49-F238E27FC236}">
                <a16:creationId xmlns:a16="http://schemas.microsoft.com/office/drawing/2014/main" id="{242FA989-6B7C-488C-85ED-CB8D01BA3254}"/>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805741722"/>
              </p:ext>
            </p:extLst>
          </p:nvPr>
        </p:nvGraphicFramePr>
        <p:xfrm>
          <a:off x="1286933" y="1588958"/>
          <a:ext cx="9618133" cy="46594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3417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Isosceles Triangle 13">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Isosceles Triangle 17">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2849562" y="609600"/>
            <a:ext cx="6424440" cy="1320800"/>
          </a:xfrm>
        </p:spPr>
        <p:txBody>
          <a:bodyPr vert="horz" lIns="91440" tIns="45720" rIns="91440" bIns="45720" rtlCol="0" anchor="t">
            <a:normAutofit/>
          </a:bodyPr>
          <a:lstStyle/>
          <a:p>
            <a:r>
              <a:rPr lang="en-US" b="1"/>
              <a:t>BASE PAPER</a:t>
            </a:r>
            <a:endParaRPr lang="en-US"/>
          </a:p>
        </p:txBody>
      </p:sp>
      <p:pic>
        <p:nvPicPr>
          <p:cNvPr id="5" name="Picture 4">
            <a:extLst>
              <a:ext uri="{FF2B5EF4-FFF2-40B4-BE49-F238E27FC236}">
                <a16:creationId xmlns:a16="http://schemas.microsoft.com/office/drawing/2014/main" id="{65F2A412-3185-8BAB-EA67-676689A2A51D}"/>
              </a:ext>
            </a:extLst>
          </p:cNvPr>
          <p:cNvPicPr>
            <a:picLocks noChangeAspect="1"/>
          </p:cNvPicPr>
          <p:nvPr/>
        </p:nvPicPr>
        <p:blipFill>
          <a:blip r:embed="rId2"/>
          <a:srcRect l="24427" r="53180" b="-1"/>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21" name="Isosceles Triangle 20">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sz="half" idx="1"/>
          </p:nvPr>
        </p:nvSpPr>
        <p:spPr>
          <a:xfrm>
            <a:off x="2158583" y="1349115"/>
            <a:ext cx="8934137" cy="5381469"/>
          </a:xfrm>
        </p:spPr>
        <p:txBody>
          <a:bodyPr vert="horz" lIns="91440" tIns="45720" rIns="91440" bIns="45720" rtlCol="0">
            <a:normAutofit/>
          </a:bodyPr>
          <a:lstStyle/>
          <a:p>
            <a:pPr>
              <a:lnSpc>
                <a:spcPct val="90000"/>
              </a:lnSpc>
            </a:pPr>
            <a:r>
              <a:rPr lang="en-US" sz="2000" b="1" dirty="0"/>
              <a:t>Title:</a:t>
            </a:r>
            <a:r>
              <a:rPr lang="en-US" sz="2000" dirty="0"/>
              <a:t> Ear-EEG Devices for the Assessment of Brain Activity: A Review</a:t>
            </a:r>
          </a:p>
          <a:p>
            <a:pPr>
              <a:lnSpc>
                <a:spcPct val="90000"/>
              </a:lnSpc>
            </a:pPr>
            <a:r>
              <a:rPr lang="en-US" sz="2000" dirty="0"/>
              <a:t> </a:t>
            </a:r>
            <a:r>
              <a:rPr lang="en-US" sz="2000" b="1" dirty="0"/>
              <a:t>Source:</a:t>
            </a:r>
            <a:r>
              <a:rPr lang="en-US" sz="2000" dirty="0"/>
              <a:t> IEEE Sensors Journal, Vol. 24, No. 20 (DOI: 10.1109/JSEN.2024.3415668)</a:t>
            </a:r>
          </a:p>
          <a:p>
            <a:pPr>
              <a:lnSpc>
                <a:spcPct val="90000"/>
              </a:lnSpc>
            </a:pPr>
            <a:r>
              <a:rPr lang="en-US" sz="2000" b="1" dirty="0"/>
              <a:t>Key Focus:</a:t>
            </a:r>
            <a:r>
              <a:rPr lang="en-US" sz="2000" dirty="0"/>
              <a:t> First comprehensive PRISMA-based systematic review of 96 in-ear EEG studies across six thematic categories.</a:t>
            </a:r>
          </a:p>
          <a:p>
            <a:pPr>
              <a:lnSpc>
                <a:spcPct val="90000"/>
              </a:lnSpc>
            </a:pPr>
            <a:r>
              <a:rPr lang="en-US" sz="2000" b="1" dirty="0"/>
              <a:t>Highlights:</a:t>
            </a:r>
            <a:r>
              <a:rPr lang="en-US" sz="2000" dirty="0"/>
              <a:t>96 papers reviewed (2011–2023); rapid growth observed post-2016</a:t>
            </a:r>
          </a:p>
          <a:p>
            <a:pPr>
              <a:lnSpc>
                <a:spcPct val="90000"/>
              </a:lnSpc>
            </a:pPr>
            <a:r>
              <a:rPr lang="en-US" sz="2000" b="1" dirty="0"/>
              <a:t>Six categories: </a:t>
            </a:r>
            <a:r>
              <a:rPr lang="en-US" sz="2000" dirty="0"/>
              <a:t>sensor design (32), BCI (26), sleep (21), ERPs (10), epilepsy (4), computational modeling (3)</a:t>
            </a:r>
          </a:p>
          <a:p>
            <a:pPr>
              <a:lnSpc>
                <a:spcPct val="90000"/>
              </a:lnSpc>
            </a:pPr>
            <a:r>
              <a:rPr lang="en-US" sz="2000" b="1" dirty="0"/>
              <a:t>Key gap: </a:t>
            </a:r>
            <a:r>
              <a:rPr lang="en-US" sz="2000" dirty="0"/>
              <a:t>no standard montage or validation protocol across studies</a:t>
            </a:r>
          </a:p>
          <a:p>
            <a:pPr>
              <a:lnSpc>
                <a:spcPct val="90000"/>
              </a:lnSpc>
            </a:pPr>
            <a:r>
              <a:rPr lang="en-US" sz="2000" b="1" dirty="0"/>
              <a:t>Authors:</a:t>
            </a:r>
            <a:r>
              <a:rPr lang="en-US" sz="2000" dirty="0"/>
              <a:t> </a:t>
            </a:r>
            <a:r>
              <a:rPr lang="en-US" sz="2000" dirty="0" err="1"/>
              <a:t>Juez</a:t>
            </a:r>
            <a:r>
              <a:rPr lang="en-US" sz="2000" dirty="0"/>
              <a:t>, J.Y. | </a:t>
            </a:r>
            <a:r>
              <a:rPr lang="en-US" sz="2000" dirty="0" err="1"/>
              <a:t>Moumane</a:t>
            </a:r>
            <a:r>
              <a:rPr lang="en-US" sz="2000" dirty="0"/>
              <a:t>, H. | Nassar, M. | Molina-Salcedo, I. | Segura-Quijano, F.E. |</a:t>
            </a:r>
          </a:p>
          <a:p>
            <a:pPr>
              <a:lnSpc>
                <a:spcPct val="90000"/>
              </a:lnSpc>
            </a:pPr>
            <a:r>
              <a:rPr lang="en-US" sz="2000" dirty="0"/>
              <a:t> </a:t>
            </a:r>
            <a:r>
              <a:rPr lang="en-US" sz="2000" b="1" dirty="0"/>
              <a:t>Year:</a:t>
            </a:r>
            <a:r>
              <a:rPr lang="en-US" sz="2000" dirty="0"/>
              <a:t> 2024</a:t>
            </a:r>
          </a:p>
        </p:txBody>
      </p:sp>
    </p:spTree>
    <p:extLst>
      <p:ext uri="{BB962C8B-B14F-4D97-AF65-F5344CB8AC3E}">
        <p14:creationId xmlns:p14="http://schemas.microsoft.com/office/powerpoint/2010/main" val="1398410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836614" y="263236"/>
            <a:ext cx="9905998" cy="554182"/>
          </a:xfrm>
        </p:spPr>
        <p:txBody>
          <a:bodyPr>
            <a:normAutofit fontScale="90000"/>
          </a:bodyPr>
          <a:lstStyle/>
          <a:p>
            <a:pPr algn="ctr"/>
            <a:r>
              <a:rPr lang="en-IN" sz="4400" b="1" dirty="0"/>
              <a:t>LITERATURE SURVEY</a:t>
            </a:r>
            <a:endParaRPr lang="en-US" sz="4400" dirty="0">
              <a:latin typeface="Rockwell" panose="02060603020205020403" pitchFamily="18" charset="0"/>
            </a:endParaRPr>
          </a:p>
        </p:txBody>
      </p:sp>
      <p:graphicFrame>
        <p:nvGraphicFramePr>
          <p:cNvPr id="5" name="Table 4">
            <a:extLst>
              <a:ext uri="{FF2B5EF4-FFF2-40B4-BE49-F238E27FC236}">
                <a16:creationId xmlns:a16="http://schemas.microsoft.com/office/drawing/2014/main" id="{4D20063D-84A3-B1AB-B39E-4CBA7A2F28D0}"/>
              </a:ext>
            </a:extLst>
          </p:cNvPr>
          <p:cNvGraphicFramePr>
            <a:graphicFrameLocks noGrp="1"/>
          </p:cNvGraphicFramePr>
          <p:nvPr>
            <p:extLst>
              <p:ext uri="{D42A27DB-BD31-4B8C-83A1-F6EECF244321}">
                <p14:modId xmlns:p14="http://schemas.microsoft.com/office/powerpoint/2010/main" val="733430672"/>
              </p:ext>
            </p:extLst>
          </p:nvPr>
        </p:nvGraphicFramePr>
        <p:xfrm>
          <a:off x="117763" y="1080653"/>
          <a:ext cx="11956474" cy="5334001"/>
        </p:xfrm>
        <a:graphic>
          <a:graphicData uri="http://schemas.openxmlformats.org/drawingml/2006/table">
            <a:tbl>
              <a:tblPr firstRow="1" bandRow="1">
                <a:tableStyleId>{5C22544A-7EE6-4342-B048-85BDC9FD1C3A}</a:tableStyleId>
              </a:tblPr>
              <a:tblGrid>
                <a:gridCol w="787315">
                  <a:extLst>
                    <a:ext uri="{9D8B030D-6E8A-4147-A177-3AD203B41FA5}">
                      <a16:colId xmlns:a16="http://schemas.microsoft.com/office/drawing/2014/main" val="3071671730"/>
                    </a:ext>
                  </a:extLst>
                </a:gridCol>
                <a:gridCol w="2263031">
                  <a:extLst>
                    <a:ext uri="{9D8B030D-6E8A-4147-A177-3AD203B41FA5}">
                      <a16:colId xmlns:a16="http://schemas.microsoft.com/office/drawing/2014/main" val="1461664658"/>
                    </a:ext>
                  </a:extLst>
                </a:gridCol>
                <a:gridCol w="3358046">
                  <a:extLst>
                    <a:ext uri="{9D8B030D-6E8A-4147-A177-3AD203B41FA5}">
                      <a16:colId xmlns:a16="http://schemas.microsoft.com/office/drawing/2014/main" val="2732100171"/>
                    </a:ext>
                  </a:extLst>
                </a:gridCol>
                <a:gridCol w="2847040">
                  <a:extLst>
                    <a:ext uri="{9D8B030D-6E8A-4147-A177-3AD203B41FA5}">
                      <a16:colId xmlns:a16="http://schemas.microsoft.com/office/drawing/2014/main" val="189577244"/>
                    </a:ext>
                  </a:extLst>
                </a:gridCol>
                <a:gridCol w="1606023">
                  <a:extLst>
                    <a:ext uri="{9D8B030D-6E8A-4147-A177-3AD203B41FA5}">
                      <a16:colId xmlns:a16="http://schemas.microsoft.com/office/drawing/2014/main" val="3081888453"/>
                    </a:ext>
                  </a:extLst>
                </a:gridCol>
                <a:gridCol w="1095019">
                  <a:extLst>
                    <a:ext uri="{9D8B030D-6E8A-4147-A177-3AD203B41FA5}">
                      <a16:colId xmlns:a16="http://schemas.microsoft.com/office/drawing/2014/main" val="1403211286"/>
                    </a:ext>
                  </a:extLst>
                </a:gridCol>
              </a:tblGrid>
              <a:tr h="746091">
                <a:tc>
                  <a:txBody>
                    <a:bodyPr/>
                    <a:lstStyle/>
                    <a:p>
                      <a:r>
                        <a:rPr lang="en-IN" sz="1800" b="0" i="1" u="none" strike="noStrike" kern="1200" baseline="0" dirty="0">
                          <a:solidFill>
                            <a:schemeClr val="lt1"/>
                          </a:solidFill>
                          <a:latin typeface="+mn-lt"/>
                          <a:ea typeface="+mn-ea"/>
                          <a:cs typeface="+mn-cs"/>
                        </a:rPr>
                        <a:t>S.NO </a:t>
                      </a:r>
                      <a:endParaRPr lang="en-IN" dirty="0"/>
                    </a:p>
                  </a:txBody>
                  <a:tcPr/>
                </a:tc>
                <a:tc>
                  <a:txBody>
                    <a:bodyPr/>
                    <a:lstStyle/>
                    <a:p>
                      <a:pPr algn="ctr"/>
                      <a:r>
                        <a:rPr lang="en-IN" sz="1800" b="1" i="0" u="none" strike="noStrike" kern="1200" baseline="0" dirty="0">
                          <a:solidFill>
                            <a:schemeClr val="lt1"/>
                          </a:solidFill>
                          <a:latin typeface="+mn-lt"/>
                          <a:ea typeface="+mn-ea"/>
                          <a:cs typeface="+mn-cs"/>
                        </a:rPr>
                        <a:t>Project title</a:t>
                      </a:r>
                    </a:p>
                    <a:p>
                      <a:pPr algn="ctr"/>
                      <a:r>
                        <a:rPr lang="en-IN" sz="1800" b="1" i="0" u="none" strike="noStrike" kern="1200" baseline="0" dirty="0">
                          <a:solidFill>
                            <a:schemeClr val="lt1"/>
                          </a:solidFill>
                          <a:latin typeface="+mn-lt"/>
                          <a:ea typeface="+mn-ea"/>
                          <a:cs typeface="+mn-cs"/>
                        </a:rPr>
                        <a:t>and source</a:t>
                      </a:r>
                      <a:endParaRPr lang="en-IN" dirty="0"/>
                    </a:p>
                  </a:txBody>
                  <a:tcPr/>
                </a:tc>
                <a:tc>
                  <a:txBody>
                    <a:bodyPr/>
                    <a:lstStyle/>
                    <a:p>
                      <a:pPr algn="ctr"/>
                      <a:r>
                        <a:rPr lang="en-US" sz="1800" b="1" i="0" u="none" strike="noStrike" kern="1200" baseline="0" dirty="0">
                          <a:solidFill>
                            <a:schemeClr val="lt1"/>
                          </a:solidFill>
                          <a:latin typeface="+mn-lt"/>
                          <a:ea typeface="+mn-ea"/>
                          <a:cs typeface="+mn-cs"/>
                        </a:rPr>
                        <a:t>Key focus</a:t>
                      </a:r>
                      <a:endParaRPr lang="en-IN" dirty="0"/>
                    </a:p>
                  </a:txBody>
                  <a:tcPr/>
                </a:tc>
                <a:tc>
                  <a:txBody>
                    <a:bodyPr/>
                    <a:lstStyle/>
                    <a:p>
                      <a:pPr algn="ctr"/>
                      <a:r>
                        <a:rPr lang="en-US" sz="1800" b="1" i="0" u="none" strike="noStrike" kern="1200" baseline="0" dirty="0">
                          <a:solidFill>
                            <a:schemeClr val="lt1"/>
                          </a:solidFill>
                          <a:latin typeface="+mn-lt"/>
                          <a:ea typeface="+mn-ea"/>
                          <a:cs typeface="+mn-cs"/>
                        </a:rPr>
                        <a:t>Highlights</a:t>
                      </a:r>
                      <a:endParaRPr lang="en-IN" dirty="0"/>
                    </a:p>
                  </a:txBody>
                  <a:tcPr/>
                </a:tc>
                <a:tc>
                  <a:txBody>
                    <a:bodyPr/>
                    <a:lstStyle/>
                    <a:p>
                      <a:pPr algn="ctr"/>
                      <a:r>
                        <a:rPr lang="en-US" sz="1800" b="1" i="0" u="none" strike="noStrike" kern="1200" baseline="0" dirty="0">
                          <a:solidFill>
                            <a:schemeClr val="lt1"/>
                          </a:solidFill>
                          <a:latin typeface="+mn-lt"/>
                          <a:ea typeface="+mn-ea"/>
                          <a:cs typeface="+mn-cs"/>
                        </a:rPr>
                        <a:t>Author</a:t>
                      </a:r>
                      <a:endParaRPr lang="en-IN" dirty="0"/>
                    </a:p>
                  </a:txBody>
                  <a:tcPr/>
                </a:tc>
                <a:tc>
                  <a:txBody>
                    <a:bodyPr/>
                    <a:lstStyle/>
                    <a:p>
                      <a:pPr algn="ctr"/>
                      <a:r>
                        <a:rPr lang="en-US" sz="1800" b="1" i="0" u="none" strike="noStrike" kern="1200" baseline="0" dirty="0">
                          <a:solidFill>
                            <a:schemeClr val="lt1"/>
                          </a:solidFill>
                          <a:latin typeface="+mn-lt"/>
                          <a:ea typeface="+mn-ea"/>
                          <a:cs typeface="+mn-cs"/>
                        </a:rPr>
                        <a:t>Year</a:t>
                      </a:r>
                      <a:endParaRPr lang="en-IN" dirty="0"/>
                    </a:p>
                  </a:txBody>
                  <a:tcPr/>
                </a:tc>
                <a:extLst>
                  <a:ext uri="{0D108BD9-81ED-4DB2-BD59-A6C34878D82A}">
                    <a16:rowId xmlns:a16="http://schemas.microsoft.com/office/drawing/2014/main" val="1175143268"/>
                  </a:ext>
                </a:extLst>
              </a:tr>
              <a:tr h="1524549">
                <a:tc>
                  <a:txBody>
                    <a:bodyPr/>
                    <a:lstStyle/>
                    <a:p>
                      <a:r>
                        <a:rPr lang="en-US" dirty="0"/>
                        <a:t>1</a:t>
                      </a:r>
                      <a:endParaRPr lang="en-IN" dirty="0"/>
                    </a:p>
                  </a:txBody>
                  <a:tcPr/>
                </a:tc>
                <a:tc>
                  <a:txBody>
                    <a:bodyPr/>
                    <a:lstStyle/>
                    <a:p>
                      <a:r>
                        <a:rPr lang="en-US" sz="1400" dirty="0"/>
                        <a:t>Brain Wearables: Validation Toolkit for Ear-Level EEG Sensors </a:t>
                      </a:r>
                      <a:endParaRPr lang="en-IN" sz="1400" dirty="0"/>
                    </a:p>
                  </a:txBody>
                  <a:tcPr/>
                </a:tc>
                <a:tc>
                  <a:txBody>
                    <a:bodyPr/>
                    <a:lstStyle/>
                    <a:p>
                      <a:r>
                        <a:rPr lang="en-US" sz="1400" dirty="0"/>
                        <a:t>Development of a hardware-to-signal validation toolkit for ear-EEG devices including 3D-printed ear phantom and </a:t>
                      </a:r>
                      <a:r>
                        <a:rPr lang="en-US" sz="1400" dirty="0" err="1"/>
                        <a:t>EaR</a:t>
                      </a:r>
                      <a:r>
                        <a:rPr lang="en-US" sz="1400" dirty="0"/>
                        <a:t>-P Lab software with 9 EEG paradigms.</a:t>
                      </a:r>
                      <a:endParaRPr lang="en-IN" sz="14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t>First ear-canal specific EEG phantom developed.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t>9 EEG paradigms validated (alpha, ASSR, SSVEP, AEP, VEP, MMN, P300, EOG).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t>Uses LSL protocol</a:t>
                      </a:r>
                    </a:p>
                  </a:txBody>
                  <a:tcPr/>
                </a:tc>
                <a:tc>
                  <a:txBody>
                    <a:bodyPr/>
                    <a:lstStyle/>
                    <a:p>
                      <a:r>
                        <a:rPr lang="pt-BR" sz="1400" dirty="0"/>
                        <a:t>Correia, G.  Crosse, M.J.  Lopez Valdes, A.</a:t>
                      </a:r>
                      <a:endParaRPr lang="en-IN" sz="1400" dirty="0"/>
                    </a:p>
                  </a:txBody>
                  <a:tcPr/>
                </a:tc>
                <a:tc>
                  <a:txBody>
                    <a:bodyPr/>
                    <a:lstStyle/>
                    <a:p>
                      <a:r>
                        <a:rPr lang="en-US" dirty="0"/>
                        <a:t>2024</a:t>
                      </a:r>
                      <a:endParaRPr lang="en-IN" dirty="0"/>
                    </a:p>
                  </a:txBody>
                  <a:tcPr/>
                </a:tc>
                <a:extLst>
                  <a:ext uri="{0D108BD9-81ED-4DB2-BD59-A6C34878D82A}">
                    <a16:rowId xmlns:a16="http://schemas.microsoft.com/office/drawing/2014/main" val="3415877663"/>
                  </a:ext>
                </a:extLst>
              </a:tr>
              <a:tr h="1538812">
                <a:tc>
                  <a:txBody>
                    <a:bodyPr/>
                    <a:lstStyle/>
                    <a:p>
                      <a:r>
                        <a:rPr lang="en-US" dirty="0"/>
                        <a:t>2</a:t>
                      </a:r>
                      <a:endParaRPr lang="en-IN" dirty="0"/>
                    </a:p>
                  </a:txBody>
                  <a:tcPr/>
                </a:tc>
                <a:tc>
                  <a:txBody>
                    <a:bodyPr/>
                    <a:lstStyle/>
                    <a:p>
                      <a:r>
                        <a:rPr lang="en-US" sz="1400" dirty="0"/>
                        <a:t>Signal Quality Evaluation of an In-Ear EEG Device in Comparison to a Conventional Cap System </a:t>
                      </a:r>
                      <a:endParaRPr lang="en-IN" sz="1400" dirty="0"/>
                    </a:p>
                  </a:txBody>
                  <a:tcPr/>
                </a:tc>
                <a:tc>
                  <a:txBody>
                    <a:bodyPr/>
                    <a:lstStyle/>
                    <a:p>
                      <a:r>
                        <a:rPr lang="en-US" sz="1400" dirty="0"/>
                        <a:t>Signal quality validation of a dry-contact in-ear EEG device vs 64-channel wet scalp EEG during wakefulness and sleep in 30 healthy subjects.</a:t>
                      </a:r>
                      <a:endParaRPr lang="en-IN" sz="1400" dirty="0"/>
                    </a:p>
                  </a:txBody>
                  <a:tcPr/>
                </a:tc>
                <a:tc>
                  <a:txBody>
                    <a:bodyPr/>
                    <a:lstStyle/>
                    <a:p>
                      <a:pPr marL="285750" indent="-285750">
                        <a:buFont typeface="Arial" panose="020B0604020202020204" pitchFamily="34" charset="0"/>
                        <a:buChar char="•"/>
                      </a:pPr>
                      <a:r>
                        <a:rPr lang="en-IN" sz="1400" dirty="0"/>
                        <a:t>93% subjects show strong alpha correlation </a:t>
                      </a:r>
                    </a:p>
                    <a:p>
                      <a:pPr marL="285750" indent="-285750">
                        <a:buFont typeface="Arial" panose="020B0604020202020204" pitchFamily="34" charset="0"/>
                        <a:buChar char="•"/>
                      </a:pPr>
                      <a:r>
                        <a:rPr lang="en-IN" sz="1400" dirty="0"/>
                        <a:t>Scalp amplitude ~2× higher; N3 correlation = 0.62</a:t>
                      </a:r>
                    </a:p>
                    <a:p>
                      <a:pPr marL="285750" indent="-285750">
                        <a:buFont typeface="Arial" panose="020B0604020202020204" pitchFamily="34" charset="0"/>
                        <a:buChar char="•"/>
                      </a:pPr>
                      <a:r>
                        <a:rPr lang="en-IN" sz="1400" dirty="0"/>
                        <a:t>4 dry electrodes; 250 Hz, 24-bit, Bluetooth</a:t>
                      </a:r>
                    </a:p>
                  </a:txBody>
                  <a:tcPr/>
                </a:tc>
                <a:tc>
                  <a:txBody>
                    <a:bodyPr/>
                    <a:lstStyle/>
                    <a:p>
                      <a:r>
                        <a:rPr lang="en-IN" sz="1400" dirty="0" err="1"/>
                        <a:t>Moumane</a:t>
                      </a:r>
                      <a:r>
                        <a:rPr lang="en-IN" sz="1400" dirty="0"/>
                        <a:t>, H, </a:t>
                      </a:r>
                      <a:r>
                        <a:rPr lang="en-IN" sz="1400" dirty="0" err="1"/>
                        <a:t>Pazuelo</a:t>
                      </a:r>
                      <a:r>
                        <a:rPr lang="en-IN" sz="1400" dirty="0"/>
                        <a:t>, J, Nassar, M ,      </a:t>
                      </a:r>
                      <a:r>
                        <a:rPr lang="en-IN" sz="1400" dirty="0" err="1"/>
                        <a:t>Juez</a:t>
                      </a:r>
                      <a:r>
                        <a:rPr lang="en-IN" sz="1400" dirty="0"/>
                        <a:t>, J.Y, Valderrama, M,   Le Van Quyen, M. </a:t>
                      </a:r>
                    </a:p>
                  </a:txBody>
                  <a:tcPr/>
                </a:tc>
                <a:tc>
                  <a:txBody>
                    <a:bodyPr/>
                    <a:lstStyle/>
                    <a:p>
                      <a:r>
                        <a:rPr lang="en-IN" dirty="0"/>
                        <a:t>2024</a:t>
                      </a:r>
                    </a:p>
                  </a:txBody>
                  <a:tcPr/>
                </a:tc>
                <a:extLst>
                  <a:ext uri="{0D108BD9-81ED-4DB2-BD59-A6C34878D82A}">
                    <a16:rowId xmlns:a16="http://schemas.microsoft.com/office/drawing/2014/main" val="3764779292"/>
                  </a:ext>
                </a:extLst>
              </a:tr>
              <a:tr h="1524549">
                <a:tc>
                  <a:txBody>
                    <a:bodyPr/>
                    <a:lstStyle/>
                    <a:p>
                      <a:r>
                        <a:rPr lang="en-US" dirty="0"/>
                        <a:t>3</a:t>
                      </a:r>
                      <a:endParaRPr lang="en-IN" dirty="0"/>
                    </a:p>
                  </a:txBody>
                  <a:tcPr/>
                </a:tc>
                <a:tc>
                  <a:txBody>
                    <a:bodyPr/>
                    <a:lstStyle/>
                    <a:p>
                      <a:r>
                        <a:rPr lang="en-US" sz="1400" dirty="0"/>
                        <a:t>Evaluating the Electroencephalographic Signal Quality of an In-Ear Wearable Device </a:t>
                      </a:r>
                      <a:endParaRPr lang="en-IN" sz="1400" dirty="0"/>
                    </a:p>
                  </a:txBody>
                  <a:tcPr/>
                </a:tc>
                <a:tc>
                  <a:txBody>
                    <a:bodyPr/>
                    <a:lstStyle/>
                    <a:p>
                      <a:r>
                        <a:rPr lang="en-US" sz="1400" dirty="0"/>
                        <a:t>Independent validation of a commercial dry-contact in-ear EEG device (NAOX Technologies) against gold-standard wet scalp EEG across wakefulness, sleep, and motion conditions.</a:t>
                      </a:r>
                      <a:endParaRPr lang="en-IN" sz="1400" dirty="0"/>
                    </a:p>
                  </a:txBody>
                  <a:tcPr/>
                </a:tc>
                <a:tc>
                  <a:txBody>
                    <a:bodyPr/>
                    <a:lstStyle/>
                    <a:p>
                      <a:pPr marL="285750" indent="-285750">
                        <a:buFont typeface="Arial" panose="020B0604020202020204" pitchFamily="34" charset="0"/>
                        <a:buChar char="•"/>
                      </a:pPr>
                      <a:r>
                        <a:rPr lang="en-US" sz="1400" dirty="0"/>
                        <a:t>Correlation: 0.87 (alpha/artifacts), 0.76 (alpha), 0.52 (sleep waves)</a:t>
                      </a:r>
                    </a:p>
                    <a:p>
                      <a:pPr marL="285750" indent="-285750">
                        <a:buFont typeface="Arial" panose="020B0604020202020204" pitchFamily="34" charset="0"/>
                        <a:buChar char="•"/>
                      </a:pPr>
                      <a:r>
                        <a:rPr lang="en-US" sz="1400" dirty="0"/>
                        <a:t>Alpha power shows no significant difference</a:t>
                      </a:r>
                      <a:endParaRPr lang="en-IN" sz="1400" dirty="0"/>
                    </a:p>
                  </a:txBody>
                  <a:tcPr/>
                </a:tc>
                <a:tc>
                  <a:txBody>
                    <a:bodyPr/>
                    <a:lstStyle/>
                    <a:p>
                      <a:r>
                        <a:rPr lang="en-IN" sz="1400" dirty="0" err="1"/>
                        <a:t>Pazuelo</a:t>
                      </a:r>
                      <a:r>
                        <a:rPr lang="en-IN" sz="1400" dirty="0"/>
                        <a:t>, J. </a:t>
                      </a:r>
                    </a:p>
                    <a:p>
                      <a:r>
                        <a:rPr lang="en-IN" sz="1400" dirty="0" err="1"/>
                        <a:t>Juez</a:t>
                      </a:r>
                      <a:r>
                        <a:rPr lang="en-IN" sz="1400" dirty="0"/>
                        <a:t>, J.Y.  </a:t>
                      </a:r>
                      <a:r>
                        <a:rPr lang="en-IN" sz="1400" dirty="0" err="1"/>
                        <a:t>Moumane</a:t>
                      </a:r>
                      <a:r>
                        <a:rPr lang="en-IN" sz="1400" dirty="0"/>
                        <a:t>, H.  </a:t>
                      </a:r>
                      <a:r>
                        <a:rPr lang="en-IN" sz="1400" dirty="0" err="1"/>
                        <a:t>Pyrzowski</a:t>
                      </a:r>
                      <a:r>
                        <a:rPr lang="en-IN" sz="1400" dirty="0"/>
                        <a:t>, J.  Valderrama, M.  Le Van Quyen, M.</a:t>
                      </a:r>
                    </a:p>
                  </a:txBody>
                  <a:tcPr/>
                </a:tc>
                <a:tc>
                  <a:txBody>
                    <a:bodyPr/>
                    <a:lstStyle/>
                    <a:p>
                      <a:r>
                        <a:rPr lang="en-US" dirty="0"/>
                        <a:t>2024</a:t>
                      </a:r>
                      <a:endParaRPr lang="en-IN" dirty="0"/>
                    </a:p>
                  </a:txBody>
                  <a:tcPr/>
                </a:tc>
                <a:extLst>
                  <a:ext uri="{0D108BD9-81ED-4DB2-BD59-A6C34878D82A}">
                    <a16:rowId xmlns:a16="http://schemas.microsoft.com/office/drawing/2014/main" val="1543040211"/>
                  </a:ext>
                </a:extLst>
              </a:tr>
            </a:tbl>
          </a:graphicData>
        </a:graphic>
      </p:graphicFrame>
    </p:spTree>
    <p:extLst>
      <p:ext uri="{BB962C8B-B14F-4D97-AF65-F5344CB8AC3E}">
        <p14:creationId xmlns:p14="http://schemas.microsoft.com/office/powerpoint/2010/main" val="1348318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3001" y="246282"/>
            <a:ext cx="9905998" cy="765100"/>
          </a:xfrm>
        </p:spPr>
        <p:txBody>
          <a:bodyPr>
            <a:normAutofit/>
          </a:bodyPr>
          <a:lstStyle/>
          <a:p>
            <a:pPr algn="ctr"/>
            <a:r>
              <a:rPr lang="en-IN" sz="4000" b="1" dirty="0"/>
              <a:t>LITERATURE SURVEY</a:t>
            </a:r>
            <a:endParaRPr lang="en-US" sz="4000" dirty="0">
              <a:latin typeface="Rockwell" panose="02060603020205020403" pitchFamily="18" charset="0"/>
            </a:endParaRPr>
          </a:p>
        </p:txBody>
      </p:sp>
      <p:graphicFrame>
        <p:nvGraphicFramePr>
          <p:cNvPr id="5" name="Table 4">
            <a:extLst>
              <a:ext uri="{FF2B5EF4-FFF2-40B4-BE49-F238E27FC236}">
                <a16:creationId xmlns:a16="http://schemas.microsoft.com/office/drawing/2014/main" id="{9591285C-BE2A-401F-58AA-22505F353FBC}"/>
              </a:ext>
            </a:extLst>
          </p:cNvPr>
          <p:cNvGraphicFramePr>
            <a:graphicFrameLocks noGrp="1"/>
          </p:cNvGraphicFramePr>
          <p:nvPr>
            <p:extLst>
              <p:ext uri="{D42A27DB-BD31-4B8C-83A1-F6EECF244321}">
                <p14:modId xmlns:p14="http://schemas.microsoft.com/office/powerpoint/2010/main" val="2339586953"/>
              </p:ext>
            </p:extLst>
          </p:nvPr>
        </p:nvGraphicFramePr>
        <p:xfrm>
          <a:off x="110836" y="1177636"/>
          <a:ext cx="11887201" cy="5434082"/>
        </p:xfrm>
        <a:graphic>
          <a:graphicData uri="http://schemas.openxmlformats.org/drawingml/2006/table">
            <a:tbl>
              <a:tblPr firstRow="1" bandRow="1">
                <a:tableStyleId>{5C22544A-7EE6-4342-B048-85BDC9FD1C3A}</a:tableStyleId>
              </a:tblPr>
              <a:tblGrid>
                <a:gridCol w="752355">
                  <a:extLst>
                    <a:ext uri="{9D8B030D-6E8A-4147-A177-3AD203B41FA5}">
                      <a16:colId xmlns:a16="http://schemas.microsoft.com/office/drawing/2014/main" val="2751118061"/>
                    </a:ext>
                  </a:extLst>
                </a:gridCol>
                <a:gridCol w="1880887">
                  <a:extLst>
                    <a:ext uri="{9D8B030D-6E8A-4147-A177-3AD203B41FA5}">
                      <a16:colId xmlns:a16="http://schemas.microsoft.com/office/drawing/2014/main" val="468166107"/>
                    </a:ext>
                  </a:extLst>
                </a:gridCol>
                <a:gridCol w="2858948">
                  <a:extLst>
                    <a:ext uri="{9D8B030D-6E8A-4147-A177-3AD203B41FA5}">
                      <a16:colId xmlns:a16="http://schemas.microsoft.com/office/drawing/2014/main" val="4105912036"/>
                    </a:ext>
                  </a:extLst>
                </a:gridCol>
                <a:gridCol w="3761774">
                  <a:extLst>
                    <a:ext uri="{9D8B030D-6E8A-4147-A177-3AD203B41FA5}">
                      <a16:colId xmlns:a16="http://schemas.microsoft.com/office/drawing/2014/main" val="1765465077"/>
                    </a:ext>
                  </a:extLst>
                </a:gridCol>
                <a:gridCol w="1630702">
                  <a:extLst>
                    <a:ext uri="{9D8B030D-6E8A-4147-A177-3AD203B41FA5}">
                      <a16:colId xmlns:a16="http://schemas.microsoft.com/office/drawing/2014/main" val="1386626450"/>
                    </a:ext>
                  </a:extLst>
                </a:gridCol>
                <a:gridCol w="1002535">
                  <a:extLst>
                    <a:ext uri="{9D8B030D-6E8A-4147-A177-3AD203B41FA5}">
                      <a16:colId xmlns:a16="http://schemas.microsoft.com/office/drawing/2014/main" val="1810596823"/>
                    </a:ext>
                  </a:extLst>
                </a:gridCol>
              </a:tblGrid>
              <a:tr h="892312">
                <a:tc>
                  <a:txBody>
                    <a:bodyPr/>
                    <a:lstStyle/>
                    <a:p>
                      <a:r>
                        <a:rPr lang="en-IN" sz="1800" b="0" i="1" u="none" strike="noStrike" kern="1200" baseline="0" dirty="0">
                          <a:solidFill>
                            <a:schemeClr val="lt1"/>
                          </a:solidFill>
                          <a:latin typeface="+mn-lt"/>
                          <a:ea typeface="+mn-ea"/>
                          <a:cs typeface="+mn-cs"/>
                        </a:rPr>
                        <a:t>S.NO </a:t>
                      </a:r>
                      <a:endParaRPr lang="en-IN" dirty="0"/>
                    </a:p>
                  </a:txBody>
                  <a:tcPr/>
                </a:tc>
                <a:tc>
                  <a:txBody>
                    <a:bodyPr/>
                    <a:lstStyle/>
                    <a:p>
                      <a:pPr algn="ctr"/>
                      <a:r>
                        <a:rPr lang="en-IN" sz="1800" b="1" i="0" u="none" strike="noStrike" kern="1200" baseline="0" dirty="0">
                          <a:solidFill>
                            <a:schemeClr val="lt1"/>
                          </a:solidFill>
                          <a:latin typeface="+mn-lt"/>
                          <a:ea typeface="+mn-ea"/>
                          <a:cs typeface="+mn-cs"/>
                        </a:rPr>
                        <a:t>Project title</a:t>
                      </a:r>
                    </a:p>
                    <a:p>
                      <a:pPr algn="ctr"/>
                      <a:r>
                        <a:rPr lang="en-IN" sz="1800" b="1" i="0" u="none" strike="noStrike" kern="1200" baseline="0" dirty="0">
                          <a:solidFill>
                            <a:schemeClr val="lt1"/>
                          </a:solidFill>
                          <a:latin typeface="+mn-lt"/>
                          <a:ea typeface="+mn-ea"/>
                          <a:cs typeface="+mn-cs"/>
                        </a:rPr>
                        <a:t>and source</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mn-lt"/>
                          <a:ea typeface="+mn-ea"/>
                          <a:cs typeface="+mn-cs"/>
                        </a:rPr>
                        <a:t>Key focus</a:t>
                      </a:r>
                      <a:endParaRPr lang="en-IN" dirty="0"/>
                    </a:p>
                    <a:p>
                      <a:r>
                        <a:rPr lang="en-IN" dirty="0"/>
                        <a:t> </a:t>
                      </a:r>
                    </a:p>
                  </a:txBody>
                  <a:tcPr/>
                </a:tc>
                <a:tc>
                  <a:txBody>
                    <a:bodyPr/>
                    <a:lstStyle/>
                    <a:p>
                      <a:pPr algn="ctr"/>
                      <a:r>
                        <a:rPr lang="en-US" sz="1800" b="1" i="0" u="none" strike="noStrike" kern="1200" baseline="0" dirty="0">
                          <a:solidFill>
                            <a:schemeClr val="lt1"/>
                          </a:solidFill>
                          <a:latin typeface="+mn-lt"/>
                          <a:ea typeface="+mn-ea"/>
                          <a:cs typeface="+mn-cs"/>
                        </a:rPr>
                        <a:t>Highlights</a:t>
                      </a:r>
                      <a:endParaRPr lang="en-IN" dirty="0"/>
                    </a:p>
                  </a:txBody>
                  <a:tcPr/>
                </a:tc>
                <a:tc>
                  <a:txBody>
                    <a:bodyPr/>
                    <a:lstStyle/>
                    <a:p>
                      <a:pPr algn="ctr"/>
                      <a:r>
                        <a:rPr lang="en-US" sz="1800" b="1" i="0" u="none" strike="noStrike" kern="1200" baseline="0" dirty="0">
                          <a:solidFill>
                            <a:schemeClr val="lt1"/>
                          </a:solidFill>
                          <a:latin typeface="+mn-lt"/>
                          <a:ea typeface="+mn-ea"/>
                          <a:cs typeface="+mn-cs"/>
                        </a:rPr>
                        <a:t>Author</a:t>
                      </a:r>
                      <a:endParaRPr lang="en-IN" dirty="0"/>
                    </a:p>
                  </a:txBody>
                  <a:tcPr/>
                </a:tc>
                <a:tc>
                  <a:txBody>
                    <a:bodyPr/>
                    <a:lstStyle/>
                    <a:p>
                      <a:pPr algn="ctr"/>
                      <a:r>
                        <a:rPr lang="en-US" sz="1800" b="1" i="0" u="none" strike="noStrike" kern="1200" baseline="0" dirty="0">
                          <a:solidFill>
                            <a:schemeClr val="lt1"/>
                          </a:solidFill>
                          <a:latin typeface="+mn-lt"/>
                          <a:ea typeface="+mn-ea"/>
                          <a:cs typeface="+mn-cs"/>
                        </a:rPr>
                        <a:t>Year</a:t>
                      </a:r>
                      <a:endParaRPr lang="en-IN" dirty="0"/>
                    </a:p>
                  </a:txBody>
                  <a:tcPr/>
                </a:tc>
                <a:extLst>
                  <a:ext uri="{0D108BD9-81ED-4DB2-BD59-A6C34878D82A}">
                    <a16:rowId xmlns:a16="http://schemas.microsoft.com/office/drawing/2014/main" val="42576754"/>
                  </a:ext>
                </a:extLst>
              </a:tr>
              <a:tr h="1930202">
                <a:tc>
                  <a:txBody>
                    <a:bodyPr/>
                    <a:lstStyle/>
                    <a:p>
                      <a:r>
                        <a:rPr lang="en-US" dirty="0"/>
                        <a:t>4</a:t>
                      </a:r>
                      <a:endParaRPr lang="en-IN" dirty="0"/>
                    </a:p>
                  </a:txBody>
                  <a:tcPr/>
                </a:tc>
                <a:tc>
                  <a:txBody>
                    <a:bodyPr/>
                    <a:lstStyle/>
                    <a:p>
                      <a:r>
                        <a:rPr lang="en-US" sz="1400" dirty="0"/>
                        <a:t>Automatic Detection of Drowsiness Using In-Ear EEG </a:t>
                      </a:r>
                      <a:endParaRPr lang="en-IN" sz="1400" dirty="0"/>
                    </a:p>
                  </a:txBody>
                  <a:tcPr/>
                </a:tc>
                <a:tc>
                  <a:txBody>
                    <a:bodyPr/>
                    <a:lstStyle/>
                    <a:p>
                      <a:r>
                        <a:rPr lang="en-US" sz="1400" dirty="0"/>
                        <a:t>First proof-of-concept study classifying drowsiness (Wake vs NREM Stage 1) using in-ear EEG with complexity-based features and binary SVM on 23 subjects.</a:t>
                      </a:r>
                      <a:endParaRPr lang="en-IN" sz="1400" dirty="0"/>
                    </a:p>
                  </a:txBody>
                  <a:tcPr/>
                </a:tc>
                <a:tc>
                  <a:txBody>
                    <a:bodyPr/>
                    <a:lstStyle/>
                    <a:p>
                      <a:pPr marL="285750" indent="-285750">
                        <a:buFont typeface="Arial" panose="020B0604020202020204" pitchFamily="34" charset="0"/>
                        <a:buChar char="•"/>
                      </a:pPr>
                      <a:r>
                        <a:rPr lang="en-IN" sz="1400" dirty="0"/>
                        <a:t>Drowsiness accuracy: 80–82.9% (ear-EEG) vs 86.8–88.8% (scalp)</a:t>
                      </a:r>
                    </a:p>
                    <a:p>
                      <a:pPr marL="285750" indent="-285750">
                        <a:buFont typeface="Arial" panose="020B0604020202020204" pitchFamily="34" charset="0"/>
                        <a:buChar char="•"/>
                      </a:pPr>
                      <a:r>
                        <a:rPr lang="en-IN" sz="1400" dirty="0"/>
                        <a:t>Alpha power decreases in NREM1 (consistent with scalp EEG)</a:t>
                      </a:r>
                    </a:p>
                    <a:p>
                      <a:pPr marL="285750" indent="-285750">
                        <a:buFont typeface="Arial" panose="020B0604020202020204" pitchFamily="34" charset="0"/>
                        <a:buChar char="•"/>
                      </a:pPr>
                      <a:r>
                        <a:rPr lang="en-IN" sz="1400" dirty="0"/>
                        <a:t>Kappa: 0.53–0.60 Uses generic viscoelastic earpiece</a:t>
                      </a:r>
                    </a:p>
                  </a:txBody>
                  <a:tcPr/>
                </a:tc>
                <a:tc>
                  <a:txBody>
                    <a:bodyPr/>
                    <a:lstStyle/>
                    <a:p>
                      <a:r>
                        <a:rPr lang="en-IN" sz="1400" dirty="0"/>
                        <a:t> Nakamura, T. </a:t>
                      </a:r>
                      <a:r>
                        <a:rPr lang="en-IN" sz="1400" dirty="0" err="1"/>
                        <a:t>Alqurashi</a:t>
                      </a:r>
                      <a:r>
                        <a:rPr lang="en-IN" sz="1400" dirty="0"/>
                        <a:t>, Y.D.  Morrell, M.J.  Mandic, D.P. </a:t>
                      </a:r>
                    </a:p>
                  </a:txBody>
                  <a:tcPr/>
                </a:tc>
                <a:tc>
                  <a:txBody>
                    <a:bodyPr/>
                    <a:lstStyle/>
                    <a:p>
                      <a:r>
                        <a:rPr lang="en-IN" dirty="0"/>
                        <a:t>2018</a:t>
                      </a:r>
                    </a:p>
                  </a:txBody>
                  <a:tcPr/>
                </a:tc>
                <a:extLst>
                  <a:ext uri="{0D108BD9-81ED-4DB2-BD59-A6C34878D82A}">
                    <a16:rowId xmlns:a16="http://schemas.microsoft.com/office/drawing/2014/main" val="2786825591"/>
                  </a:ext>
                </a:extLst>
              </a:tr>
              <a:tr h="2611568">
                <a:tc>
                  <a:txBody>
                    <a:bodyPr/>
                    <a:lstStyle/>
                    <a:p>
                      <a:r>
                        <a:rPr lang="en-US" dirty="0"/>
                        <a:t>5</a:t>
                      </a:r>
                      <a:endParaRPr lang="en-IN" dirty="0"/>
                    </a:p>
                  </a:txBody>
                  <a:tcPr/>
                </a:tc>
                <a:tc>
                  <a:txBody>
                    <a:bodyPr/>
                    <a:lstStyle/>
                    <a:p>
                      <a:r>
                        <a:rPr lang="en-US" sz="1400" dirty="0"/>
                        <a:t>Real-Time EEG-Based Drowsiness Detection Using Deep Learning Algorithms </a:t>
                      </a:r>
                      <a:endParaRPr lang="en-IN" sz="1400" dirty="0"/>
                    </a:p>
                  </a:txBody>
                  <a:tcPr/>
                </a:tc>
                <a:tc>
                  <a:txBody>
                    <a:bodyPr/>
                    <a:lstStyle/>
                    <a:p>
                      <a:r>
                        <a:rPr lang="en-US" sz="1400" dirty="0"/>
                        <a:t>Review of complete EEG-based drowsiness detection pipeline </a:t>
                      </a:r>
                      <a:r>
                        <a:rPr lang="en-US" sz="1400" dirty="0" err="1"/>
                        <a:t>emphasising</a:t>
                      </a:r>
                      <a:r>
                        <a:rPr lang="en-US" sz="1400" dirty="0"/>
                        <a:t> deep learning classification for real-time wearable deployment</a:t>
                      </a:r>
                      <a:endParaRPr lang="en-IN" sz="1400" dirty="0"/>
                    </a:p>
                  </a:txBody>
                  <a:tcPr/>
                </a:tc>
                <a:tc>
                  <a:txBody>
                    <a:bodyPr/>
                    <a:lstStyle/>
                    <a:p>
                      <a:pPr marL="285750" indent="-285750">
                        <a:buFont typeface="Arial" panose="020B0604020202020204" pitchFamily="34" charset="0"/>
                        <a:buChar char="•"/>
                      </a:pPr>
                      <a:r>
                        <a:rPr lang="en-IN" sz="1400" dirty="0"/>
                        <a:t>Drowsiness: ↑ theta, ↑ alpha, ↓ beta</a:t>
                      </a:r>
                    </a:p>
                    <a:p>
                      <a:pPr marL="285750" indent="-285750">
                        <a:buFont typeface="Arial" panose="020B0604020202020204" pitchFamily="34" charset="0"/>
                        <a:buChar char="•"/>
                      </a:pPr>
                      <a:r>
                        <a:rPr lang="en-IN" sz="1400" dirty="0"/>
                        <a:t>CNN → spatial features; LSTM → temporal patterns</a:t>
                      </a:r>
                    </a:p>
                    <a:p>
                      <a:pPr marL="285750" indent="-285750">
                        <a:buFont typeface="Arial" panose="020B0604020202020204" pitchFamily="34" charset="0"/>
                        <a:buChar char="•"/>
                      </a:pPr>
                      <a:r>
                        <a:rPr lang="en-IN" sz="1400" dirty="0"/>
                        <a:t>Hybrid CNN-LSTM outperforms CNN, SVM, k-NN</a:t>
                      </a:r>
                    </a:p>
                    <a:p>
                      <a:pPr marL="285750" indent="-285750">
                        <a:buFont typeface="Arial" panose="020B0604020202020204" pitchFamily="34" charset="0"/>
                        <a:buChar char="•"/>
                      </a:pPr>
                      <a:r>
                        <a:rPr lang="en-IN" sz="1400" dirty="0"/>
                        <a:t>Edge AI + embedded systems enable real-time use</a:t>
                      </a:r>
                    </a:p>
                    <a:p>
                      <a:pPr marL="285750" indent="-285750">
                        <a:buFont typeface="Arial" panose="020B0604020202020204" pitchFamily="34" charset="0"/>
                        <a:buChar char="•"/>
                      </a:pPr>
                      <a:r>
                        <a:rPr lang="en-IN" sz="1400" dirty="0"/>
                        <a:t>Multimodal fusion improves accuracy</a:t>
                      </a:r>
                    </a:p>
                  </a:txBody>
                  <a:tcPr/>
                </a:tc>
                <a:tc>
                  <a:txBody>
                    <a:bodyPr/>
                    <a:lstStyle/>
                    <a:p>
                      <a:r>
                        <a:rPr lang="en-IN" sz="1400" dirty="0"/>
                        <a:t>Suman, J.V, </a:t>
                      </a:r>
                      <a:r>
                        <a:rPr lang="en-IN" sz="1400" dirty="0" err="1"/>
                        <a:t>Nurmatovich</a:t>
                      </a:r>
                      <a:r>
                        <a:rPr lang="en-IN" sz="1400" dirty="0"/>
                        <a:t>, H.A,</a:t>
                      </a:r>
                    </a:p>
                    <a:p>
                      <a:r>
                        <a:rPr lang="en-IN" sz="1400" dirty="0"/>
                        <a:t> </a:t>
                      </a:r>
                      <a:r>
                        <a:rPr lang="en-IN" sz="1400" dirty="0" err="1"/>
                        <a:t>Rajulu</a:t>
                      </a:r>
                      <a:r>
                        <a:rPr lang="en-IN" sz="1400" dirty="0"/>
                        <a:t>, B.G, </a:t>
                      </a:r>
                      <a:r>
                        <a:rPr lang="en-IN" sz="1400" dirty="0" err="1"/>
                        <a:t>Shadiyor</a:t>
                      </a:r>
                      <a:r>
                        <a:rPr lang="en-IN" sz="1400" dirty="0"/>
                        <a:t>, Y, Chakravarthi, P.K.</a:t>
                      </a:r>
                    </a:p>
                  </a:txBody>
                  <a:tcPr/>
                </a:tc>
                <a:tc>
                  <a:txBody>
                    <a:bodyPr/>
                    <a:lstStyle/>
                    <a:p>
                      <a:r>
                        <a:rPr lang="en-IN" dirty="0"/>
                        <a:t>2025</a:t>
                      </a:r>
                    </a:p>
                  </a:txBody>
                  <a:tcPr/>
                </a:tc>
                <a:extLst>
                  <a:ext uri="{0D108BD9-81ED-4DB2-BD59-A6C34878D82A}">
                    <a16:rowId xmlns:a16="http://schemas.microsoft.com/office/drawing/2014/main" val="4143728153"/>
                  </a:ext>
                </a:extLst>
              </a:tr>
            </a:tbl>
          </a:graphicData>
        </a:graphic>
      </p:graphicFrame>
    </p:spTree>
    <p:extLst>
      <p:ext uri="{BB962C8B-B14F-4D97-AF65-F5344CB8AC3E}">
        <p14:creationId xmlns:p14="http://schemas.microsoft.com/office/powerpoint/2010/main" val="2919556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B61B1-3EAF-3174-9BE7-5CEFB4888217}"/>
              </a:ext>
            </a:extLst>
          </p:cNvPr>
          <p:cNvSpPr>
            <a:spLocks noGrp="1"/>
          </p:cNvSpPr>
          <p:nvPr>
            <p:ph type="title"/>
          </p:nvPr>
        </p:nvSpPr>
        <p:spPr>
          <a:xfrm>
            <a:off x="3697625" y="523543"/>
            <a:ext cx="8596668" cy="586189"/>
          </a:xfrm>
        </p:spPr>
        <p:txBody>
          <a:bodyPr anchor="t">
            <a:normAutofit fontScale="90000"/>
          </a:bodyPr>
          <a:lstStyle/>
          <a:p>
            <a:r>
              <a:rPr lang="en-IN" b="1" dirty="0"/>
              <a:t>Description of Research Gap</a:t>
            </a:r>
          </a:p>
        </p:txBody>
      </p:sp>
      <p:pic>
        <p:nvPicPr>
          <p:cNvPr id="7" name="Graphic 6" descr="Ear">
            <a:extLst>
              <a:ext uri="{FF2B5EF4-FFF2-40B4-BE49-F238E27FC236}">
                <a16:creationId xmlns:a16="http://schemas.microsoft.com/office/drawing/2014/main" id="{9CF03BA3-9AAB-59F2-94A1-C497CD70CD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6775" y="2160589"/>
            <a:ext cx="2915973" cy="2915973"/>
          </a:xfrm>
          <a:prstGeom prst="rect">
            <a:avLst/>
          </a:prstGeom>
        </p:spPr>
      </p:pic>
      <p:sp>
        <p:nvSpPr>
          <p:cNvPr id="3" name="Content Placeholder 2">
            <a:extLst>
              <a:ext uri="{FF2B5EF4-FFF2-40B4-BE49-F238E27FC236}">
                <a16:creationId xmlns:a16="http://schemas.microsoft.com/office/drawing/2014/main" id="{5CDCFC95-BD68-0802-9D62-5C6036024512}"/>
              </a:ext>
            </a:extLst>
          </p:cNvPr>
          <p:cNvSpPr>
            <a:spLocks noGrp="1"/>
          </p:cNvSpPr>
          <p:nvPr>
            <p:ph idx="1"/>
          </p:nvPr>
        </p:nvSpPr>
        <p:spPr>
          <a:xfrm>
            <a:off x="3132944" y="1219201"/>
            <a:ext cx="7165299" cy="4822162"/>
          </a:xfrm>
        </p:spPr>
        <p:txBody>
          <a:bodyPr>
            <a:noAutofit/>
          </a:bodyPr>
          <a:lstStyle/>
          <a:p>
            <a:pPr algn="just">
              <a:lnSpc>
                <a:spcPct val="90000"/>
              </a:lnSpc>
            </a:pPr>
            <a:r>
              <a:rPr lang="en-US" sz="2000" dirty="0"/>
              <a:t>Based on the survey of existing ear-EEG systems, current solutions such as the </a:t>
            </a:r>
            <a:r>
              <a:rPr lang="en-US" sz="2000" dirty="0" err="1"/>
              <a:t>Mobita</a:t>
            </a:r>
            <a:r>
              <a:rPr lang="en-US" sz="2000" dirty="0"/>
              <a:t> </a:t>
            </a:r>
            <a:r>
              <a:rPr lang="en-US" sz="2000" dirty="0" err="1"/>
              <a:t>TMSi</a:t>
            </a:r>
            <a:r>
              <a:rPr lang="en-US" sz="2000" dirty="0"/>
              <a:t> EEG amplifier, </a:t>
            </a:r>
            <a:r>
              <a:rPr lang="en-US" sz="2000" dirty="0" err="1"/>
              <a:t>OpenBCI</a:t>
            </a:r>
            <a:r>
              <a:rPr lang="en-US" sz="2000" dirty="0"/>
              <a:t>, and </a:t>
            </a:r>
            <a:r>
              <a:rPr lang="en-US" sz="2000" dirty="0" err="1"/>
              <a:t>WANDmini</a:t>
            </a:r>
            <a:r>
              <a:rPr lang="en-US" sz="2000" dirty="0"/>
              <a:t> platforms are used for brain activity monitoring. These systems record EEG signals from in-ear electrodes and have been validated for drowsiness detection, sleep staging, and brain-computer interface applications. However, existing systems monitor only EEG signals and do not integrate any additional physiological parameters such as SpO2 or body temperature. Furthermore, these systems are expensive, laboratory-grade, and require wired connections to external amplifiers. They are not designed for ambulatory or daily-life use and cannot be deployed as standalone IoT devices. The lack of multimodal sensing and real-time wireless monitoring limits the reliability and practical applicability of these systems for continuous brain state assessment outside clinical environments.</a:t>
            </a:r>
            <a:endParaRPr lang="en-IN" sz="2000" dirty="0"/>
          </a:p>
        </p:txBody>
      </p:sp>
    </p:spTree>
    <p:extLst>
      <p:ext uri="{BB962C8B-B14F-4D97-AF65-F5344CB8AC3E}">
        <p14:creationId xmlns:p14="http://schemas.microsoft.com/office/powerpoint/2010/main" val="1323303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3" y="369136"/>
            <a:ext cx="9905998" cy="572973"/>
          </a:xfrm>
        </p:spPr>
        <p:txBody>
          <a:bodyPr>
            <a:normAutofit fontScale="90000"/>
          </a:bodyPr>
          <a:lstStyle/>
          <a:p>
            <a:pPr algn="ctr"/>
            <a:r>
              <a:rPr lang="en-IN" sz="4000" b="1" dirty="0"/>
              <a:t>RESEARCH GAP IDENTIFIED</a:t>
            </a:r>
          </a:p>
        </p:txBody>
      </p:sp>
      <p:graphicFrame>
        <p:nvGraphicFramePr>
          <p:cNvPr id="4" name="Content Placeholder 3">
            <a:extLst>
              <a:ext uri="{FF2B5EF4-FFF2-40B4-BE49-F238E27FC236}">
                <a16:creationId xmlns:a16="http://schemas.microsoft.com/office/drawing/2014/main" id="{1CA807D4-63DB-BF9E-E319-E116B2B23816}"/>
              </a:ext>
            </a:extLst>
          </p:cNvPr>
          <p:cNvGraphicFramePr>
            <a:graphicFrameLocks noGrp="1"/>
          </p:cNvGraphicFramePr>
          <p:nvPr>
            <p:ph idx="1"/>
            <p:extLst>
              <p:ext uri="{D42A27DB-BD31-4B8C-83A1-F6EECF244321}">
                <p14:modId xmlns:p14="http://schemas.microsoft.com/office/powerpoint/2010/main" val="2765148962"/>
              </p:ext>
            </p:extLst>
          </p:nvPr>
        </p:nvGraphicFramePr>
        <p:xfrm>
          <a:off x="1141413" y="1274618"/>
          <a:ext cx="9906000" cy="4849089"/>
        </p:xfrm>
        <a:graphic>
          <a:graphicData uri="http://schemas.openxmlformats.org/drawingml/2006/table">
            <a:tbl>
              <a:tblPr firstRow="1" bandRow="1">
                <a:tableStyleId>{5C22544A-7EE6-4342-B048-85BDC9FD1C3A}</a:tableStyleId>
              </a:tblPr>
              <a:tblGrid>
                <a:gridCol w="4953000">
                  <a:extLst>
                    <a:ext uri="{9D8B030D-6E8A-4147-A177-3AD203B41FA5}">
                      <a16:colId xmlns:a16="http://schemas.microsoft.com/office/drawing/2014/main" val="3294629719"/>
                    </a:ext>
                  </a:extLst>
                </a:gridCol>
                <a:gridCol w="4953000">
                  <a:extLst>
                    <a:ext uri="{9D8B030D-6E8A-4147-A177-3AD203B41FA5}">
                      <a16:colId xmlns:a16="http://schemas.microsoft.com/office/drawing/2014/main" val="1865681478"/>
                    </a:ext>
                  </a:extLst>
                </a:gridCol>
              </a:tblGrid>
              <a:tr h="692727">
                <a:tc>
                  <a:txBody>
                    <a:bodyPr/>
                    <a:lstStyle/>
                    <a:p>
                      <a:pPr>
                        <a:buNone/>
                      </a:pPr>
                      <a:r>
                        <a:rPr lang="en-IN" dirty="0"/>
                        <a:t>Research Gap</a:t>
                      </a:r>
                    </a:p>
                  </a:txBody>
                  <a:tcPr anchor="ctr"/>
                </a:tc>
                <a:tc>
                  <a:txBody>
                    <a:bodyPr/>
                    <a:lstStyle/>
                    <a:p>
                      <a:pPr>
                        <a:buNone/>
                      </a:pPr>
                      <a:r>
                        <a:rPr lang="en-IN"/>
                        <a:t>Our Solution</a:t>
                      </a:r>
                    </a:p>
                  </a:txBody>
                  <a:tcPr anchor="ctr"/>
                </a:tc>
                <a:extLst>
                  <a:ext uri="{0D108BD9-81ED-4DB2-BD59-A6C34878D82A}">
                    <a16:rowId xmlns:a16="http://schemas.microsoft.com/office/drawing/2014/main" val="525598123"/>
                  </a:ext>
                </a:extLst>
              </a:tr>
              <a:tr h="692727">
                <a:tc>
                  <a:txBody>
                    <a:bodyPr/>
                    <a:lstStyle/>
                    <a:p>
                      <a:pPr>
                        <a:buNone/>
                      </a:pPr>
                      <a:r>
                        <a:rPr lang="en-US"/>
                        <a:t>EEG only — no physiological parameters</a:t>
                      </a:r>
                    </a:p>
                  </a:txBody>
                  <a:tcPr anchor="ctr"/>
                </a:tc>
                <a:tc>
                  <a:txBody>
                    <a:bodyPr/>
                    <a:lstStyle/>
                    <a:p>
                      <a:pPr>
                        <a:buNone/>
                      </a:pPr>
                      <a:r>
                        <a:rPr lang="en-US"/>
                        <a:t>Added MAX30102 (SpO2 + Heart Rate) and MLX90614 (Temperature)</a:t>
                      </a:r>
                    </a:p>
                  </a:txBody>
                  <a:tcPr anchor="ctr"/>
                </a:tc>
                <a:extLst>
                  <a:ext uri="{0D108BD9-81ED-4DB2-BD59-A6C34878D82A}">
                    <a16:rowId xmlns:a16="http://schemas.microsoft.com/office/drawing/2014/main" val="890073251"/>
                  </a:ext>
                </a:extLst>
              </a:tr>
              <a:tr h="692727">
                <a:tc>
                  <a:txBody>
                    <a:bodyPr/>
                    <a:lstStyle/>
                    <a:p>
                      <a:pPr>
                        <a:buNone/>
                      </a:pPr>
                      <a:r>
                        <a:rPr lang="en-IN"/>
                        <a:t>Expensive laboratory-grade systems</a:t>
                      </a:r>
                    </a:p>
                  </a:txBody>
                  <a:tcPr anchor="ctr"/>
                </a:tc>
                <a:tc>
                  <a:txBody>
                    <a:bodyPr/>
                    <a:lstStyle/>
                    <a:p>
                      <a:pPr>
                        <a:buNone/>
                      </a:pPr>
                      <a:r>
                        <a:rPr lang="en-IN"/>
                        <a:t>Low-cost Arduino-based embedded system</a:t>
                      </a:r>
                    </a:p>
                  </a:txBody>
                  <a:tcPr anchor="ctr"/>
                </a:tc>
                <a:extLst>
                  <a:ext uri="{0D108BD9-81ED-4DB2-BD59-A6C34878D82A}">
                    <a16:rowId xmlns:a16="http://schemas.microsoft.com/office/drawing/2014/main" val="2600164507"/>
                  </a:ext>
                </a:extLst>
              </a:tr>
              <a:tr h="692727">
                <a:tc>
                  <a:txBody>
                    <a:bodyPr/>
                    <a:lstStyle/>
                    <a:p>
                      <a:pPr>
                        <a:buNone/>
                      </a:pPr>
                      <a:r>
                        <a:rPr lang="en-IN"/>
                        <a:t>Wired connections to amplifiers</a:t>
                      </a:r>
                    </a:p>
                  </a:txBody>
                  <a:tcPr anchor="ctr"/>
                </a:tc>
                <a:tc>
                  <a:txBody>
                    <a:bodyPr/>
                    <a:lstStyle/>
                    <a:p>
                      <a:pPr>
                        <a:buNone/>
                      </a:pPr>
                      <a:r>
                        <a:rPr lang="en-US"/>
                        <a:t>Wireless Bluetooth / WiFi IoT connectivity</a:t>
                      </a:r>
                    </a:p>
                  </a:txBody>
                  <a:tcPr anchor="ctr"/>
                </a:tc>
                <a:extLst>
                  <a:ext uri="{0D108BD9-81ED-4DB2-BD59-A6C34878D82A}">
                    <a16:rowId xmlns:a16="http://schemas.microsoft.com/office/drawing/2014/main" val="3925179727"/>
                  </a:ext>
                </a:extLst>
              </a:tr>
              <a:tr h="692727">
                <a:tc>
                  <a:txBody>
                    <a:bodyPr/>
                    <a:lstStyle/>
                    <a:p>
                      <a:pPr>
                        <a:buNone/>
                      </a:pPr>
                      <a:r>
                        <a:rPr lang="en-US"/>
                        <a:t>Not suitable for ambulatory use</a:t>
                      </a:r>
                    </a:p>
                  </a:txBody>
                  <a:tcPr anchor="ctr"/>
                </a:tc>
                <a:tc>
                  <a:txBody>
                    <a:bodyPr/>
                    <a:lstStyle/>
                    <a:p>
                      <a:pPr>
                        <a:buNone/>
                      </a:pPr>
                      <a:r>
                        <a:rPr lang="en-US"/>
                        <a:t>Compact wearable design for daily use</a:t>
                      </a:r>
                    </a:p>
                  </a:txBody>
                  <a:tcPr anchor="ctr"/>
                </a:tc>
                <a:extLst>
                  <a:ext uri="{0D108BD9-81ED-4DB2-BD59-A6C34878D82A}">
                    <a16:rowId xmlns:a16="http://schemas.microsoft.com/office/drawing/2014/main" val="3121203243"/>
                  </a:ext>
                </a:extLst>
              </a:tr>
              <a:tr h="692727">
                <a:tc>
                  <a:txBody>
                    <a:bodyPr/>
                    <a:lstStyle/>
                    <a:p>
                      <a:pPr>
                        <a:buNone/>
                      </a:pPr>
                      <a:r>
                        <a:rPr lang="en-IN"/>
                        <a:t>Single-parameter brain classification</a:t>
                      </a:r>
                    </a:p>
                  </a:txBody>
                  <a:tcPr anchor="ctr"/>
                </a:tc>
                <a:tc>
                  <a:txBody>
                    <a:bodyPr/>
                    <a:lstStyle/>
                    <a:p>
                      <a:pPr>
                        <a:buNone/>
                      </a:pPr>
                      <a:r>
                        <a:rPr lang="it-IT"/>
                        <a:t>Multimodal classification using EEG + SpO2 + Temperature</a:t>
                      </a:r>
                    </a:p>
                  </a:txBody>
                  <a:tcPr anchor="ctr"/>
                </a:tc>
                <a:extLst>
                  <a:ext uri="{0D108BD9-81ED-4DB2-BD59-A6C34878D82A}">
                    <a16:rowId xmlns:a16="http://schemas.microsoft.com/office/drawing/2014/main" val="2153155010"/>
                  </a:ext>
                </a:extLst>
              </a:tr>
              <a:tr h="692727">
                <a:tc>
                  <a:txBody>
                    <a:bodyPr/>
                    <a:lstStyle/>
                    <a:p>
                      <a:pPr>
                        <a:buNone/>
                      </a:pPr>
                      <a:r>
                        <a:rPr lang="en-US"/>
                        <a:t>Validated only on healthy subjects</a:t>
                      </a:r>
                    </a:p>
                  </a:txBody>
                  <a:tcPr anchor="ctr"/>
                </a:tc>
                <a:tc>
                  <a:txBody>
                    <a:bodyPr/>
                    <a:lstStyle/>
                    <a:p>
                      <a:pPr>
                        <a:buNone/>
                      </a:pPr>
                      <a:r>
                        <a:rPr lang="en-US" dirty="0"/>
                        <a:t>Designed for general ambulatory population</a:t>
                      </a:r>
                    </a:p>
                  </a:txBody>
                  <a:tcPr anchor="ctr"/>
                </a:tc>
                <a:extLst>
                  <a:ext uri="{0D108BD9-81ED-4DB2-BD59-A6C34878D82A}">
                    <a16:rowId xmlns:a16="http://schemas.microsoft.com/office/drawing/2014/main" val="925199756"/>
                  </a:ext>
                </a:extLst>
              </a:tr>
            </a:tbl>
          </a:graphicData>
        </a:graphic>
      </p:graphicFrame>
    </p:spTree>
    <p:extLst>
      <p:ext uri="{BB962C8B-B14F-4D97-AF65-F5344CB8AC3E}">
        <p14:creationId xmlns:p14="http://schemas.microsoft.com/office/powerpoint/2010/main" val="1902613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4"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5" name="Isosceles Triangle 44">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6"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7"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8"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9" name="Isosceles Triangle 48">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0" name="Isosceles Triangle 49">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CB1B7D3E-3AEF-45FF-8448-9912B79C8036}"/>
              </a:ext>
            </a:extLst>
          </p:cNvPr>
          <p:cNvSpPr>
            <a:spLocks noGrp="1"/>
          </p:cNvSpPr>
          <p:nvPr>
            <p:ph type="title"/>
          </p:nvPr>
        </p:nvSpPr>
        <p:spPr>
          <a:xfrm>
            <a:off x="5536734" y="609600"/>
            <a:ext cx="3737268" cy="1320800"/>
          </a:xfrm>
        </p:spPr>
        <p:txBody>
          <a:bodyPr vert="horz" lIns="91440" tIns="45720" rIns="91440" bIns="45720" rtlCol="0" anchor="t">
            <a:normAutofit/>
          </a:bodyPr>
          <a:lstStyle/>
          <a:p>
            <a:r>
              <a:rPr lang="en-US" sz="3600" b="1"/>
              <a:t>METHODOLOGY</a:t>
            </a:r>
          </a:p>
        </p:txBody>
      </p:sp>
      <p:sp>
        <p:nvSpPr>
          <p:cNvPr id="5" name="Rectangle 1">
            <a:extLst>
              <a:ext uri="{FF2B5EF4-FFF2-40B4-BE49-F238E27FC236}">
                <a16:creationId xmlns:a16="http://schemas.microsoft.com/office/drawing/2014/main" id="{8DC69213-D15B-6205-A69D-D2DC80F80615}"/>
              </a:ext>
            </a:extLst>
          </p:cNvPr>
          <p:cNvSpPr>
            <a:spLocks noGrp="1" noChangeArrowheads="1"/>
          </p:cNvSpPr>
          <p:nvPr>
            <p:ph type="body" sz="half" idx="2"/>
          </p:nvPr>
        </p:nvSpPr>
        <p:spPr bwMode="auto">
          <a:xfrm>
            <a:off x="5209563" y="2160589"/>
            <a:ext cx="4064439" cy="3880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85750" marR="0" lvl="0" indent="-285750" fontAlgn="base">
              <a:buFont typeface="Wingdings 3" charset="2"/>
              <a:buChar char=""/>
              <a:tabLst/>
            </a:pPr>
            <a:r>
              <a:rPr kumimoji="0" lang="en-US" altLang="en-US" i="0" u="none" strike="noStrike" cap="none" normalizeH="0" baseline="0">
                <a:ln>
                  <a:noFill/>
                </a:ln>
                <a:effectLst/>
              </a:rPr>
              <a:t>Dry Ag/AgCl electrodes capture EEG signals, amplified using INA128 and filtered (0.5–50 Hz).</a:t>
            </a:r>
          </a:p>
          <a:p>
            <a:pPr marL="285750" marR="0" lvl="0" indent="-285750" fontAlgn="base">
              <a:buFont typeface="Wingdings 3" charset="2"/>
              <a:buChar char=""/>
              <a:tabLst/>
            </a:pPr>
            <a:r>
              <a:rPr kumimoji="0" lang="en-US" altLang="en-US" i="0" u="none" strike="noStrike" cap="none" normalizeH="0" baseline="0">
                <a:ln>
                  <a:noFill/>
                </a:ln>
                <a:effectLst/>
              </a:rPr>
              <a:t>MAX30102 sensor measures SpO₂ and heart rate; MLX90614 measures temperature via I2C.</a:t>
            </a:r>
          </a:p>
          <a:p>
            <a:pPr marL="285750" marR="0" lvl="0" indent="-285750" fontAlgn="base">
              <a:buFont typeface="Wingdings 3" charset="2"/>
              <a:buChar char=""/>
              <a:tabLst/>
            </a:pPr>
            <a:r>
              <a:rPr kumimoji="0" lang="en-US" altLang="en-US" i="0" u="none" strike="noStrike" cap="none" normalizeH="0" baseline="0">
                <a:ln>
                  <a:noFill/>
                </a:ln>
                <a:effectLst/>
              </a:rPr>
              <a:t>FFT processing extracts Alpha (8–13 Hz) and Theta (4–8 Hz) EEG bands.</a:t>
            </a:r>
          </a:p>
          <a:p>
            <a:pPr marL="285750" marR="0" lvl="0" indent="-285750" fontAlgn="base">
              <a:buFont typeface="Wingdings 3" charset="2"/>
              <a:buChar char=""/>
              <a:tabLst/>
            </a:pPr>
            <a:r>
              <a:rPr kumimoji="0" lang="en-US" altLang="en-US" i="0" u="none" strike="noStrike" cap="none" normalizeH="0" baseline="0">
                <a:ln>
                  <a:noFill/>
                </a:ln>
                <a:effectLst/>
              </a:rPr>
              <a:t>Brain state is classified using EEG + SpO₂ + heart rate + temperature.</a:t>
            </a:r>
          </a:p>
          <a:p>
            <a:pPr marL="285750" marR="0" lvl="0" indent="-285750" fontAlgn="base">
              <a:buFont typeface="Wingdings 3" charset="2"/>
              <a:buChar char=""/>
              <a:tabLst/>
            </a:pPr>
            <a:r>
              <a:rPr kumimoji="0" lang="en-US" altLang="en-US" i="0" u="none" strike="noStrike" cap="none" normalizeH="0" baseline="0">
                <a:ln>
                  <a:noFill/>
                </a:ln>
                <a:effectLst/>
              </a:rPr>
              <a:t>Output shown on 16×2 LCD and transmitted via HC-05 Bluetooth to mobile app</a:t>
            </a:r>
            <a:r>
              <a:rPr kumimoji="0" lang="en-US" altLang="en-US" b="1" i="0" u="none" strike="noStrike" cap="none" normalizeH="0" baseline="0">
                <a:ln>
                  <a:noFill/>
                </a:ln>
                <a:effectLst/>
              </a:rPr>
              <a:t>.</a:t>
            </a:r>
          </a:p>
        </p:txBody>
      </p:sp>
      <p:pic>
        <p:nvPicPr>
          <p:cNvPr id="7" name="Content Placeholder 6">
            <a:extLst>
              <a:ext uri="{FF2B5EF4-FFF2-40B4-BE49-F238E27FC236}">
                <a16:creationId xmlns:a16="http://schemas.microsoft.com/office/drawing/2014/main" id="{8A2211FD-AAC8-9B9B-D291-65316416DC62}"/>
              </a:ext>
            </a:extLst>
          </p:cNvPr>
          <p:cNvPicPr>
            <a:picLocks noGrp="1" noChangeAspect="1"/>
          </p:cNvPicPr>
          <p:nvPr>
            <p:ph idx="1"/>
          </p:nvPr>
        </p:nvPicPr>
        <p:blipFill>
          <a:blip r:embed="rId2"/>
          <a:srcRect l="28155" r="27596"/>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51" name="Isosceles Triangle 5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87989310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989EB-83C9-59C7-DBA3-C68105705F20}"/>
              </a:ext>
            </a:extLst>
          </p:cNvPr>
          <p:cNvSpPr>
            <a:spLocks noGrp="1"/>
          </p:cNvSpPr>
          <p:nvPr>
            <p:ph type="title"/>
          </p:nvPr>
        </p:nvSpPr>
        <p:spPr>
          <a:xfrm>
            <a:off x="1141413" y="618518"/>
            <a:ext cx="9905998" cy="448282"/>
          </a:xfrm>
        </p:spPr>
        <p:txBody>
          <a:bodyPr>
            <a:normAutofit fontScale="90000"/>
          </a:bodyPr>
          <a:lstStyle/>
          <a:p>
            <a:pPr algn="ctr"/>
            <a:r>
              <a:rPr lang="en-IN" sz="4000" b="1" dirty="0"/>
              <a:t>Brain State Classification Table</a:t>
            </a:r>
            <a:br>
              <a:rPr lang="en-IN" sz="4000" dirty="0"/>
            </a:br>
            <a:endParaRPr lang="en-IN" sz="4000" dirty="0"/>
          </a:p>
        </p:txBody>
      </p:sp>
      <p:graphicFrame>
        <p:nvGraphicFramePr>
          <p:cNvPr id="3" name="Table 2">
            <a:extLst>
              <a:ext uri="{FF2B5EF4-FFF2-40B4-BE49-F238E27FC236}">
                <a16:creationId xmlns:a16="http://schemas.microsoft.com/office/drawing/2014/main" id="{5F342C1B-AA11-6198-FA87-126DBA315AAB}"/>
              </a:ext>
            </a:extLst>
          </p:cNvPr>
          <p:cNvGraphicFramePr>
            <a:graphicFrameLocks noGrp="1"/>
          </p:cNvGraphicFramePr>
          <p:nvPr>
            <p:extLst>
              <p:ext uri="{D42A27DB-BD31-4B8C-83A1-F6EECF244321}">
                <p14:modId xmlns:p14="http://schemas.microsoft.com/office/powerpoint/2010/main" val="3238284522"/>
              </p:ext>
            </p:extLst>
          </p:nvPr>
        </p:nvGraphicFramePr>
        <p:xfrm>
          <a:off x="720437" y="1219200"/>
          <a:ext cx="10487890" cy="4779820"/>
        </p:xfrm>
        <a:graphic>
          <a:graphicData uri="http://schemas.openxmlformats.org/drawingml/2006/table">
            <a:tbl>
              <a:tblPr firstRow="1" bandRow="1">
                <a:tableStyleId>{5C22544A-7EE6-4342-B048-85BDC9FD1C3A}</a:tableStyleId>
              </a:tblPr>
              <a:tblGrid>
                <a:gridCol w="2097578">
                  <a:extLst>
                    <a:ext uri="{9D8B030D-6E8A-4147-A177-3AD203B41FA5}">
                      <a16:colId xmlns:a16="http://schemas.microsoft.com/office/drawing/2014/main" val="1695154336"/>
                    </a:ext>
                  </a:extLst>
                </a:gridCol>
                <a:gridCol w="2097578">
                  <a:extLst>
                    <a:ext uri="{9D8B030D-6E8A-4147-A177-3AD203B41FA5}">
                      <a16:colId xmlns:a16="http://schemas.microsoft.com/office/drawing/2014/main" val="2646828974"/>
                    </a:ext>
                  </a:extLst>
                </a:gridCol>
                <a:gridCol w="2097578">
                  <a:extLst>
                    <a:ext uri="{9D8B030D-6E8A-4147-A177-3AD203B41FA5}">
                      <a16:colId xmlns:a16="http://schemas.microsoft.com/office/drawing/2014/main" val="3964101218"/>
                    </a:ext>
                  </a:extLst>
                </a:gridCol>
                <a:gridCol w="2097578">
                  <a:extLst>
                    <a:ext uri="{9D8B030D-6E8A-4147-A177-3AD203B41FA5}">
                      <a16:colId xmlns:a16="http://schemas.microsoft.com/office/drawing/2014/main" val="3942199473"/>
                    </a:ext>
                  </a:extLst>
                </a:gridCol>
                <a:gridCol w="2097578">
                  <a:extLst>
                    <a:ext uri="{9D8B030D-6E8A-4147-A177-3AD203B41FA5}">
                      <a16:colId xmlns:a16="http://schemas.microsoft.com/office/drawing/2014/main" val="3058034177"/>
                    </a:ext>
                  </a:extLst>
                </a:gridCol>
              </a:tblGrid>
              <a:tr h="1194955">
                <a:tc>
                  <a:txBody>
                    <a:bodyPr/>
                    <a:lstStyle/>
                    <a:p>
                      <a:pPr>
                        <a:buNone/>
                      </a:pPr>
                      <a:r>
                        <a:rPr lang="en-IN"/>
                        <a:t>EEG Band</a:t>
                      </a:r>
                    </a:p>
                  </a:txBody>
                  <a:tcPr anchor="ctr"/>
                </a:tc>
                <a:tc>
                  <a:txBody>
                    <a:bodyPr/>
                    <a:lstStyle/>
                    <a:p>
                      <a:pPr>
                        <a:buNone/>
                      </a:pPr>
                      <a:r>
                        <a:rPr lang="en-IN"/>
                        <a:t>SpO2</a:t>
                      </a:r>
                    </a:p>
                  </a:txBody>
                  <a:tcPr anchor="ctr"/>
                </a:tc>
                <a:tc>
                  <a:txBody>
                    <a:bodyPr/>
                    <a:lstStyle/>
                    <a:p>
                      <a:pPr>
                        <a:buNone/>
                      </a:pPr>
                      <a:r>
                        <a:rPr lang="en-IN"/>
                        <a:t>Heart Rate</a:t>
                      </a:r>
                    </a:p>
                  </a:txBody>
                  <a:tcPr anchor="ctr"/>
                </a:tc>
                <a:tc>
                  <a:txBody>
                    <a:bodyPr/>
                    <a:lstStyle/>
                    <a:p>
                      <a:pPr>
                        <a:buNone/>
                      </a:pPr>
                      <a:r>
                        <a:rPr lang="en-IN"/>
                        <a:t>Temperature</a:t>
                      </a:r>
                    </a:p>
                  </a:txBody>
                  <a:tcPr anchor="ctr"/>
                </a:tc>
                <a:tc>
                  <a:txBody>
                    <a:bodyPr/>
                    <a:lstStyle/>
                    <a:p>
                      <a:pPr>
                        <a:buNone/>
                      </a:pPr>
                      <a:r>
                        <a:rPr lang="en-IN"/>
                        <a:t>Brain State</a:t>
                      </a:r>
                    </a:p>
                  </a:txBody>
                  <a:tcPr anchor="ctr"/>
                </a:tc>
                <a:extLst>
                  <a:ext uri="{0D108BD9-81ED-4DB2-BD59-A6C34878D82A}">
                    <a16:rowId xmlns:a16="http://schemas.microsoft.com/office/drawing/2014/main" val="600145241"/>
                  </a:ext>
                </a:extLst>
              </a:tr>
              <a:tr h="1194955">
                <a:tc>
                  <a:txBody>
                    <a:bodyPr/>
                    <a:lstStyle/>
                    <a:p>
                      <a:pPr>
                        <a:buNone/>
                      </a:pPr>
                      <a:r>
                        <a:rPr lang="en-IN"/>
                        <a:t>Alpha dominant</a:t>
                      </a:r>
                    </a:p>
                  </a:txBody>
                  <a:tcPr anchor="ctr"/>
                </a:tc>
                <a:tc>
                  <a:txBody>
                    <a:bodyPr/>
                    <a:lstStyle/>
                    <a:p>
                      <a:pPr>
                        <a:buNone/>
                      </a:pPr>
                      <a:r>
                        <a:rPr lang="en-IN"/>
                        <a:t>Normal &gt;95%</a:t>
                      </a:r>
                    </a:p>
                  </a:txBody>
                  <a:tcPr anchor="ctr"/>
                </a:tc>
                <a:tc>
                  <a:txBody>
                    <a:bodyPr/>
                    <a:lstStyle/>
                    <a:p>
                      <a:pPr>
                        <a:buNone/>
                      </a:pPr>
                      <a:r>
                        <a:rPr lang="en-IN"/>
                        <a:t>Normal</a:t>
                      </a:r>
                    </a:p>
                  </a:txBody>
                  <a:tcPr anchor="ctr"/>
                </a:tc>
                <a:tc>
                  <a:txBody>
                    <a:bodyPr/>
                    <a:lstStyle/>
                    <a:p>
                      <a:pPr>
                        <a:buNone/>
                      </a:pPr>
                      <a:r>
                        <a:rPr lang="en-IN"/>
                        <a:t>Normal</a:t>
                      </a:r>
                    </a:p>
                  </a:txBody>
                  <a:tcPr anchor="ctr"/>
                </a:tc>
                <a:tc>
                  <a:txBody>
                    <a:bodyPr/>
                    <a:lstStyle/>
                    <a:p>
                      <a:pPr>
                        <a:buNone/>
                      </a:pPr>
                      <a:r>
                        <a:rPr lang="en-IN"/>
                        <a:t>Relaxed Awake</a:t>
                      </a:r>
                    </a:p>
                  </a:txBody>
                  <a:tcPr anchor="ctr"/>
                </a:tc>
                <a:extLst>
                  <a:ext uri="{0D108BD9-81ED-4DB2-BD59-A6C34878D82A}">
                    <a16:rowId xmlns:a16="http://schemas.microsoft.com/office/drawing/2014/main" val="742331695"/>
                  </a:ext>
                </a:extLst>
              </a:tr>
              <a:tr h="1194955">
                <a:tc>
                  <a:txBody>
                    <a:bodyPr/>
                    <a:lstStyle/>
                    <a:p>
                      <a:pPr>
                        <a:buNone/>
                      </a:pPr>
                      <a:r>
                        <a:rPr lang="en-IN"/>
                        <a:t>Theta dominant</a:t>
                      </a:r>
                    </a:p>
                  </a:txBody>
                  <a:tcPr anchor="ctr"/>
                </a:tc>
                <a:tc>
                  <a:txBody>
                    <a:bodyPr/>
                    <a:lstStyle/>
                    <a:p>
                      <a:pPr>
                        <a:buNone/>
                      </a:pPr>
                      <a:r>
                        <a:rPr lang="en-IN"/>
                        <a:t>Slight drop</a:t>
                      </a:r>
                    </a:p>
                  </a:txBody>
                  <a:tcPr anchor="ctr"/>
                </a:tc>
                <a:tc>
                  <a:txBody>
                    <a:bodyPr/>
                    <a:lstStyle/>
                    <a:p>
                      <a:pPr>
                        <a:buNone/>
                      </a:pPr>
                      <a:r>
                        <a:rPr lang="en-IN"/>
                        <a:t>Slowing</a:t>
                      </a:r>
                    </a:p>
                  </a:txBody>
                  <a:tcPr anchor="ctr"/>
                </a:tc>
                <a:tc>
                  <a:txBody>
                    <a:bodyPr/>
                    <a:lstStyle/>
                    <a:p>
                      <a:pPr>
                        <a:buNone/>
                      </a:pPr>
                      <a:r>
                        <a:rPr lang="en-IN"/>
                        <a:t>Slight rise</a:t>
                      </a:r>
                    </a:p>
                  </a:txBody>
                  <a:tcPr anchor="ctr"/>
                </a:tc>
                <a:tc>
                  <a:txBody>
                    <a:bodyPr/>
                    <a:lstStyle/>
                    <a:p>
                      <a:pPr>
                        <a:buNone/>
                      </a:pPr>
                      <a:r>
                        <a:rPr lang="en-IN"/>
                        <a:t>Drowsy</a:t>
                      </a:r>
                    </a:p>
                  </a:txBody>
                  <a:tcPr anchor="ctr"/>
                </a:tc>
                <a:extLst>
                  <a:ext uri="{0D108BD9-81ED-4DB2-BD59-A6C34878D82A}">
                    <a16:rowId xmlns:a16="http://schemas.microsoft.com/office/drawing/2014/main" val="494834795"/>
                  </a:ext>
                </a:extLst>
              </a:tr>
              <a:tr h="1194955">
                <a:tc>
                  <a:txBody>
                    <a:bodyPr/>
                    <a:lstStyle/>
                    <a:p>
                      <a:pPr>
                        <a:buNone/>
                      </a:pPr>
                      <a:r>
                        <a:rPr lang="en-IN"/>
                        <a:t>Delta dominant</a:t>
                      </a:r>
                    </a:p>
                  </a:txBody>
                  <a:tcPr anchor="ctr"/>
                </a:tc>
                <a:tc>
                  <a:txBody>
                    <a:bodyPr/>
                    <a:lstStyle/>
                    <a:p>
                      <a:pPr>
                        <a:buNone/>
                      </a:pPr>
                      <a:r>
                        <a:rPr lang="en-IN"/>
                        <a:t>Low &lt;92%</a:t>
                      </a:r>
                    </a:p>
                  </a:txBody>
                  <a:tcPr anchor="ctr"/>
                </a:tc>
                <a:tc>
                  <a:txBody>
                    <a:bodyPr/>
                    <a:lstStyle/>
                    <a:p>
                      <a:pPr>
                        <a:buNone/>
                      </a:pPr>
                      <a:r>
                        <a:rPr lang="en-IN"/>
                        <a:t>Slow</a:t>
                      </a:r>
                    </a:p>
                  </a:txBody>
                  <a:tcPr anchor="ctr"/>
                </a:tc>
                <a:tc>
                  <a:txBody>
                    <a:bodyPr/>
                    <a:lstStyle/>
                    <a:p>
                      <a:pPr>
                        <a:buNone/>
                      </a:pPr>
                      <a:r>
                        <a:rPr lang="en-IN"/>
                        <a:t>Elevated</a:t>
                      </a:r>
                    </a:p>
                  </a:txBody>
                  <a:tcPr anchor="ctr"/>
                </a:tc>
                <a:tc>
                  <a:txBody>
                    <a:bodyPr/>
                    <a:lstStyle/>
                    <a:p>
                      <a:pPr>
                        <a:buNone/>
                      </a:pPr>
                      <a:r>
                        <a:rPr lang="en-IN" dirty="0"/>
                        <a:t>Sleep Onset</a:t>
                      </a:r>
                    </a:p>
                  </a:txBody>
                  <a:tcPr anchor="ctr"/>
                </a:tc>
                <a:extLst>
                  <a:ext uri="{0D108BD9-81ED-4DB2-BD59-A6C34878D82A}">
                    <a16:rowId xmlns:a16="http://schemas.microsoft.com/office/drawing/2014/main" val="2154579802"/>
                  </a:ext>
                </a:extLst>
              </a:tr>
            </a:tbl>
          </a:graphicData>
        </a:graphic>
      </p:graphicFrame>
    </p:spTree>
    <p:extLst>
      <p:ext uri="{BB962C8B-B14F-4D97-AF65-F5344CB8AC3E}">
        <p14:creationId xmlns:p14="http://schemas.microsoft.com/office/powerpoint/2010/main" val="2279949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Isosceles Triangle 13">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Isosceles Triangle 17">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21" name="Rectangle 20">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A25279-65B0-5947-81D5-ECA30F4296AF}"/>
              </a:ext>
            </a:extLst>
          </p:cNvPr>
          <p:cNvSpPr>
            <a:spLocks noGrp="1"/>
          </p:cNvSpPr>
          <p:nvPr>
            <p:ph type="title"/>
          </p:nvPr>
        </p:nvSpPr>
        <p:spPr>
          <a:xfrm>
            <a:off x="652481" y="1382486"/>
            <a:ext cx="3547581" cy="4093028"/>
          </a:xfrm>
        </p:spPr>
        <p:txBody>
          <a:bodyPr vert="horz" lIns="91440" tIns="45720" rIns="91440" bIns="45720" rtlCol="0" anchor="ctr">
            <a:normAutofit/>
          </a:bodyPr>
          <a:lstStyle/>
          <a:p>
            <a:r>
              <a:rPr lang="en-US" sz="4400" b="1"/>
              <a:t>REFERENCES</a:t>
            </a:r>
          </a:p>
        </p:txBody>
      </p:sp>
      <p:grpSp>
        <p:nvGrpSpPr>
          <p:cNvPr id="23" name="Group 22">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24" name="Straight Connector 23">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Isosceles Triangle 31">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34" name="Rectangle 33">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5F069538-8739-19CC-5AFD-322002FC43B0}"/>
              </a:ext>
            </a:extLst>
          </p:cNvPr>
          <p:cNvGraphicFramePr/>
          <p:nvPr>
            <p:extLst>
              <p:ext uri="{D42A27DB-BD31-4B8C-83A1-F6EECF244321}">
                <p14:modId xmlns:p14="http://schemas.microsoft.com/office/powerpoint/2010/main" val="3877108355"/>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341122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3.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146</TotalTime>
  <Words>1466</Words>
  <Application>Microsoft Office PowerPoint</Application>
  <PresentationFormat>Widescreen</PresentationFormat>
  <Paragraphs>144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Rockwell</vt:lpstr>
      <vt:lpstr>Tahoma</vt:lpstr>
      <vt:lpstr>Trebuchet MS</vt:lpstr>
      <vt:lpstr>Wingdings 3</vt:lpstr>
      <vt:lpstr>Facet</vt:lpstr>
      <vt:lpstr>DESIGN AND IMPLEMENTATION OF A WEARABLE EAR-EEG SYSTEM WITH SpO2 AND TEMPERATURE MONITORING FOR BRAIN ACTIVITY ASSESSMENT</vt:lpstr>
      <vt:lpstr>ABSTRACT</vt:lpstr>
      <vt:lpstr>OBJECTIVE &amp;SCOPE</vt:lpstr>
      <vt:lpstr>INTRODUCTION</vt:lpstr>
      <vt:lpstr>BASE PAPER</vt:lpstr>
      <vt:lpstr>LITERATURE SURVEY</vt:lpstr>
      <vt:lpstr>LITERATURE SURVEY</vt:lpstr>
      <vt:lpstr>Description of Research Gap</vt:lpstr>
      <vt:lpstr>RESEARCH GAP IDENTIFIED</vt:lpstr>
      <vt:lpstr>METHODOLOGY</vt:lpstr>
      <vt:lpstr>Brain State Classification Table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S0285743</dc:creator>
  <cp:lastModifiedBy>Parasuraman M</cp:lastModifiedBy>
  <cp:revision>3</cp:revision>
  <dcterms:created xsi:type="dcterms:W3CDTF">2026-03-19T14:00:17Z</dcterms:created>
  <dcterms:modified xsi:type="dcterms:W3CDTF">2026-03-20T07:34:39Z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